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48640" y="1005840"/>
            <a:ext cx="11091672" cy="4846320"/>
          </a:xfrm>
          <a:prstGeom prst="roundRect">
            <a:avLst>
              <a:gd name="adj" fmla="val 7547"/>
            </a:avLst>
          </a:prstGeom>
          <a:solidFill>
            <a:srgbClr val="FFFFFF"/>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3" name="Text 1"/>
          <p:cNvSpPr txBox="1"/>
          <p:nvPr/>
        </p:nvSpPr>
        <p:spPr>
          <a:xfrm>
            <a:off x="1097280" y="1737360"/>
            <a:ext cx="9994392" cy="1828800"/>
          </a:xfrm>
          <a:prstGeom prst="rect">
            <a:avLst/>
          </a:prstGeom>
          <a:noFill/>
          <a:ln/>
        </p:spPr>
        <p:txBody>
          <a:bodyPr wrap="square" lIns="0" tIns="0" rIns="0" bIns="0" rtlCol="0" anchor="ctr"/>
          <a:lstStyle/>
          <a:p>
            <a:pPr algn="ctr" indent="0" marL="0">
              <a:buNone/>
            </a:pPr>
            <a:r>
              <a:rPr lang="en-US" sz="4600" b="1" dirty="0">
                <a:solidFill>
                  <a:srgbClr val="1F2937"/>
                </a:solidFill>
                <a:latin typeface="Calibri" pitchFamily="34" charset="0"/>
                <a:ea typeface="Calibri" pitchFamily="34" charset="-122"/>
                <a:cs typeface="Calibri" pitchFamily="34" charset="-120"/>
              </a:rPr>
              <a:t>Asynchronous File Processing Server</a:t>
            </a:r>
            <a:endParaRPr lang="en-US" sz="4600" dirty="0"/>
          </a:p>
        </p:txBody>
      </p:sp>
      <p:sp>
        <p:nvSpPr>
          <p:cNvPr id="4" name="Text 2"/>
          <p:cNvSpPr txBox="1"/>
          <p:nvPr/>
        </p:nvSpPr>
        <p:spPr>
          <a:xfrm>
            <a:off x="1097280" y="3886200"/>
            <a:ext cx="9994392" cy="274320"/>
          </a:xfrm>
          <a:prstGeom prst="rect">
            <a:avLst/>
          </a:prstGeom>
          <a:noFill/>
          <a:ln/>
        </p:spPr>
        <p:txBody>
          <a:bodyPr wrap="square" lIns="0" tIns="0" rIns="0" bIns="0" rtlCol="0" anchor="ctr"/>
          <a:lstStyle/>
          <a:p>
            <a:pPr algn="ctr" indent="0" marL="0">
              <a:buNone/>
            </a:pPr>
            <a:r>
              <a:rPr lang="en-US" sz="1300" b="1" spc="300" kern="0" dirty="0">
                <a:solidFill>
                  <a:srgbClr val="6B7280"/>
                </a:solidFill>
                <a:latin typeface="Calibri" pitchFamily="34" charset="0"/>
                <a:ea typeface="Calibri" pitchFamily="34" charset="-122"/>
                <a:cs typeface="Calibri" pitchFamily="34" charset="-120"/>
              </a:rPr>
              <a:t>TEAM 20</a:t>
            </a:r>
            <a:endParaRPr lang="en-US" sz="1300" dirty="0"/>
          </a:p>
        </p:txBody>
      </p:sp>
      <p:sp>
        <p:nvSpPr>
          <p:cNvPr id="5" name="Shape 3"/>
          <p:cNvSpPr/>
          <p:nvPr/>
        </p:nvSpPr>
        <p:spPr>
          <a:xfrm>
            <a:off x="2027225" y="4343400"/>
            <a:ext cx="3931920" cy="640080"/>
          </a:xfrm>
          <a:prstGeom prst="roundRect">
            <a:avLst>
              <a:gd name="adj" fmla="val 17143"/>
            </a:avLst>
          </a:prstGeom>
          <a:solidFill>
            <a:srgbClr val="EAF2F8"/>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2027225" y="4343400"/>
            <a:ext cx="3931920" cy="640080"/>
          </a:xfrm>
          <a:prstGeom prst="rect">
            <a:avLst/>
          </a:prstGeom>
          <a:noFill/>
          <a:ln/>
        </p:spPr>
        <p:txBody>
          <a:bodyPr wrap="square" lIns="0" tIns="0" rIns="0" bIns="0" rtlCol="0" anchor="ctr"/>
          <a:lstStyle/>
          <a:p>
            <a:pPr algn="ctr" indent="0" marL="0">
              <a:buNone/>
            </a:pPr>
            <a:r>
              <a:rPr lang="en-US" sz="1800" b="1" dirty="0">
                <a:solidFill>
                  <a:srgbClr val="1F4E79"/>
                </a:solidFill>
                <a:latin typeface="Calibri" pitchFamily="34" charset="0"/>
                <a:ea typeface="Calibri" pitchFamily="34" charset="-122"/>
                <a:cs typeface="Calibri" pitchFamily="34" charset="-120"/>
              </a:rPr>
              <a:t>B. Surya Prakash Reddy</a:t>
            </a:r>
            <a:endParaRPr lang="en-US" sz="1800" dirty="0"/>
          </a:p>
        </p:txBody>
      </p:sp>
      <p:sp>
        <p:nvSpPr>
          <p:cNvPr id="7" name="Shape 5"/>
          <p:cNvSpPr/>
          <p:nvPr/>
        </p:nvSpPr>
        <p:spPr>
          <a:xfrm>
            <a:off x="6233465" y="4343400"/>
            <a:ext cx="3931920" cy="640080"/>
          </a:xfrm>
          <a:prstGeom prst="roundRect">
            <a:avLst>
              <a:gd name="adj" fmla="val 17143"/>
            </a:avLst>
          </a:prstGeom>
          <a:solidFill>
            <a:srgbClr val="F1ECF8"/>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6233465" y="4343400"/>
            <a:ext cx="3931920" cy="640080"/>
          </a:xfrm>
          <a:prstGeom prst="rect">
            <a:avLst/>
          </a:prstGeom>
          <a:noFill/>
          <a:ln/>
        </p:spPr>
        <p:txBody>
          <a:bodyPr wrap="square" lIns="0" tIns="0" rIns="0" bIns="0" rtlCol="0" anchor="ctr"/>
          <a:lstStyle/>
          <a:p>
            <a:pPr algn="ctr" indent="0" marL="0">
              <a:buNone/>
            </a:pPr>
            <a:r>
              <a:rPr lang="en-US" sz="1800" b="1" dirty="0">
                <a:solidFill>
                  <a:srgbClr val="6B4FA1"/>
                </a:solidFill>
                <a:latin typeface="Calibri" pitchFamily="34" charset="0"/>
                <a:ea typeface="Calibri" pitchFamily="34" charset="-122"/>
                <a:cs typeface="Calibri" pitchFamily="34" charset="-120"/>
              </a:rPr>
              <a:t>Vedhanth Sinde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594360"/>
          </a:xfrm>
          <a:prstGeom prst="rect">
            <a:avLst/>
          </a:prstGeom>
          <a:noFill/>
          <a:ln/>
        </p:spPr>
        <p:txBody>
          <a:bodyPr wrap="square" lIns="0" tIns="0" rIns="0" bIns="0" rtlCol="0" anchor="ctr"/>
          <a:lstStyle/>
          <a:p>
            <a:pPr algn="ctr" indent="0" marL="0">
              <a:buNone/>
            </a:pPr>
            <a:r>
              <a:rPr lang="en-US" sz="3200" b="1" dirty="0">
                <a:solidFill>
                  <a:srgbClr val="1F2937"/>
                </a:solidFill>
                <a:latin typeface="Calibri" pitchFamily="34" charset="0"/>
                <a:ea typeface="Calibri" pitchFamily="34" charset="-122"/>
                <a:cs typeface="Calibri" pitchFamily="34" charset="-120"/>
              </a:rPr>
              <a:t>Abstract</a:t>
            </a:r>
            <a:endParaRPr lang="en-US" sz="3200" dirty="0"/>
          </a:p>
        </p:txBody>
      </p:sp>
      <p:sp>
        <p:nvSpPr>
          <p:cNvPr id="3" name="Text 1"/>
          <p:cNvSpPr txBox="1"/>
          <p:nvPr/>
        </p:nvSpPr>
        <p:spPr>
          <a:xfrm>
            <a:off x="548640" y="868680"/>
            <a:ext cx="11091672" cy="320040"/>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A short summary of the project</a:t>
            </a:r>
            <a:endParaRPr lang="en-US" sz="14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OSSP • Team 20</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6" name="Shape 4"/>
          <p:cNvSpPr/>
          <p:nvPr/>
        </p:nvSpPr>
        <p:spPr>
          <a:xfrm>
            <a:off x="566928" y="1417320"/>
            <a:ext cx="11055096" cy="3246120"/>
          </a:xfrm>
          <a:prstGeom prst="roundRect">
            <a:avLst>
              <a:gd name="adj" fmla="val 4225"/>
            </a:avLst>
          </a:prstGeom>
          <a:solidFill>
            <a:srgbClr val="FFFFFF"/>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868680" y="1645920"/>
            <a:ext cx="10451592" cy="2788920"/>
          </a:xfrm>
          <a:prstGeom prst="rect">
            <a:avLst/>
          </a:prstGeom>
          <a:noFill/>
          <a:ln/>
        </p:spPr>
        <p:txBody>
          <a:bodyPr wrap="square" lIns="0" tIns="0" rIns="0" bIns="0" rtlCol="0" anchor="t"/>
          <a:lstStyle/>
          <a:p>
            <a:pPr indent="0" marL="0">
              <a:lnSpc>
                <a:spcPct val="125000"/>
              </a:lnSpc>
              <a:buNone/>
            </a:pPr>
            <a:r>
              <a:rPr lang="en-US" sz="1600" dirty="0">
                <a:solidFill>
                  <a:srgbClr val="1F2937"/>
                </a:solidFill>
                <a:latin typeface="Calibri" pitchFamily="34" charset="0"/>
                <a:ea typeface="Calibri" pitchFamily="34" charset="-122"/>
                <a:cs typeface="Calibri" pitchFamily="34" charset="-120"/>
              </a:rPr>
              <a:t>This project implements a C-based asynchronous file processing server that accepts read and write requests from multiple clients over a client–server connection. Instead of handling one request at a time, the server queues incoming requests, processes them asynchronously using worker logic, and places completed results in a completion queue before responding to the correct client. Shared data structures such as the request and completion queues are protected using synchronization so that concurrent access does not corrupt data. The system is built and tested on Linux using POSIX-style mechanisms, and its performance is evaluated by measuring request latency and throughput under varying client loads.</a:t>
            </a:r>
            <a:endParaRPr lang="en-US" sz="1600" dirty="0"/>
          </a:p>
        </p:txBody>
      </p:sp>
      <p:sp>
        <p:nvSpPr>
          <p:cNvPr id="8" name="Shape 6"/>
          <p:cNvSpPr/>
          <p:nvPr/>
        </p:nvSpPr>
        <p:spPr>
          <a:xfrm>
            <a:off x="566928" y="4892040"/>
            <a:ext cx="3502152" cy="1051560"/>
          </a:xfrm>
          <a:prstGeom prst="roundRect">
            <a:avLst>
              <a:gd name="adj" fmla="val 10435"/>
            </a:avLst>
          </a:prstGeom>
          <a:solidFill>
            <a:srgbClr val="EAF2F8"/>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841248" y="5010912"/>
            <a:ext cx="2926080" cy="274320"/>
          </a:xfrm>
          <a:prstGeom prst="rect">
            <a:avLst/>
          </a:prstGeom>
          <a:noFill/>
          <a:ln/>
        </p:spPr>
        <p:txBody>
          <a:bodyPr wrap="square" lIns="0" tIns="0" rIns="0" bIns="0" rtlCol="0" anchor="ctr"/>
          <a:lstStyle/>
          <a:p>
            <a:pPr indent="0" marL="0">
              <a:buNone/>
            </a:pPr>
            <a:r>
              <a:rPr lang="en-US" sz="1200" b="1" dirty="0">
                <a:solidFill>
                  <a:srgbClr val="2F75B5"/>
                </a:solidFill>
                <a:latin typeface="Calibri" pitchFamily="34" charset="0"/>
                <a:ea typeface="Calibri" pitchFamily="34" charset="-122"/>
                <a:cs typeface="Calibri" pitchFamily="34" charset="-120"/>
              </a:rPr>
              <a:t>LANGUAGE</a:t>
            </a:r>
            <a:endParaRPr lang="en-US" sz="1200" dirty="0"/>
          </a:p>
        </p:txBody>
      </p:sp>
      <p:sp>
        <p:nvSpPr>
          <p:cNvPr id="10" name="Text 8"/>
          <p:cNvSpPr txBox="1"/>
          <p:nvPr/>
        </p:nvSpPr>
        <p:spPr>
          <a:xfrm>
            <a:off x="841248" y="5285232"/>
            <a:ext cx="2971800" cy="502920"/>
          </a:xfrm>
          <a:prstGeom prst="rect">
            <a:avLst/>
          </a:prstGeom>
          <a:noFill/>
          <a:ln/>
        </p:spPr>
        <p:txBody>
          <a:bodyPr wrap="square" lIns="0" tIns="0" rIns="0" bIns="0" rtlCol="0" anchor="t"/>
          <a:lstStyle/>
          <a:p>
            <a:pPr indent="0" marL="0">
              <a:buNone/>
            </a:pPr>
            <a:r>
              <a:rPr lang="en-US" sz="1600" b="1" dirty="0">
                <a:solidFill>
                  <a:srgbClr val="1F2937"/>
                </a:solidFill>
                <a:latin typeface="Calibri" pitchFamily="34" charset="0"/>
                <a:ea typeface="Calibri" pitchFamily="34" charset="-122"/>
                <a:cs typeface="Calibri" pitchFamily="34" charset="-120"/>
              </a:rPr>
              <a:t>C</a:t>
            </a:r>
            <a:endParaRPr lang="en-US" sz="1600" dirty="0"/>
          </a:p>
        </p:txBody>
      </p:sp>
      <p:sp>
        <p:nvSpPr>
          <p:cNvPr id="11" name="Shape 9"/>
          <p:cNvSpPr/>
          <p:nvPr/>
        </p:nvSpPr>
        <p:spPr>
          <a:xfrm>
            <a:off x="4343400" y="4892040"/>
            <a:ext cx="3502152" cy="1051560"/>
          </a:xfrm>
          <a:prstGeom prst="roundRect">
            <a:avLst>
              <a:gd name="adj" fmla="val 10435"/>
            </a:avLst>
          </a:prstGeom>
          <a:solidFill>
            <a:srgbClr val="E9F6F3"/>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4617720" y="5010912"/>
            <a:ext cx="2926080" cy="274320"/>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PLATFORM</a:t>
            </a:r>
            <a:endParaRPr lang="en-US" sz="1200" dirty="0"/>
          </a:p>
        </p:txBody>
      </p:sp>
      <p:sp>
        <p:nvSpPr>
          <p:cNvPr id="13" name="Text 11"/>
          <p:cNvSpPr txBox="1"/>
          <p:nvPr/>
        </p:nvSpPr>
        <p:spPr>
          <a:xfrm>
            <a:off x="4617720" y="5285232"/>
            <a:ext cx="2971800" cy="502920"/>
          </a:xfrm>
          <a:prstGeom prst="rect">
            <a:avLst/>
          </a:prstGeom>
          <a:noFill/>
          <a:ln/>
        </p:spPr>
        <p:txBody>
          <a:bodyPr wrap="square" lIns="0" tIns="0" rIns="0" bIns="0" rtlCol="0" anchor="t"/>
          <a:lstStyle/>
          <a:p>
            <a:pPr indent="0" marL="0">
              <a:buNone/>
            </a:pPr>
            <a:r>
              <a:rPr lang="en-US" sz="1600" b="1" dirty="0">
                <a:solidFill>
                  <a:srgbClr val="1F2937"/>
                </a:solidFill>
                <a:latin typeface="Calibri" pitchFamily="34" charset="0"/>
                <a:ea typeface="Calibri" pitchFamily="34" charset="-122"/>
                <a:cs typeface="Calibri" pitchFamily="34" charset="-120"/>
              </a:rPr>
              <a:t>Linux / POSIX</a:t>
            </a:r>
            <a:endParaRPr lang="en-US" sz="1600" dirty="0"/>
          </a:p>
        </p:txBody>
      </p:sp>
      <p:sp>
        <p:nvSpPr>
          <p:cNvPr id="14" name="Shape 12"/>
          <p:cNvSpPr/>
          <p:nvPr/>
        </p:nvSpPr>
        <p:spPr>
          <a:xfrm>
            <a:off x="8119872" y="4892040"/>
            <a:ext cx="3502152" cy="1051560"/>
          </a:xfrm>
          <a:prstGeom prst="roundRect">
            <a:avLst>
              <a:gd name="adj" fmla="val 10435"/>
            </a:avLst>
          </a:prstGeom>
          <a:solidFill>
            <a:srgbClr val="F1ECF8"/>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8394192" y="5010912"/>
            <a:ext cx="2926080" cy="274320"/>
          </a:xfrm>
          <a:prstGeom prst="rect">
            <a:avLst/>
          </a:prstGeom>
          <a:noFill/>
          <a:ln/>
        </p:spPr>
        <p:txBody>
          <a:bodyPr wrap="square" lIns="0" tIns="0" rIns="0" bIns="0" rtlCol="0" anchor="ctr"/>
          <a:lstStyle/>
          <a:p>
            <a:pPr indent="0" marL="0">
              <a:buNone/>
            </a:pPr>
            <a:r>
              <a:rPr lang="en-US" sz="1200" b="1" dirty="0">
                <a:solidFill>
                  <a:srgbClr val="6B4FA1"/>
                </a:solidFill>
                <a:latin typeface="Calibri" pitchFamily="34" charset="0"/>
                <a:ea typeface="Calibri" pitchFamily="34" charset="-122"/>
                <a:cs typeface="Calibri" pitchFamily="34" charset="-120"/>
              </a:rPr>
              <a:t>FOCUS AREA</a:t>
            </a:r>
            <a:endParaRPr lang="en-US" sz="1200" dirty="0"/>
          </a:p>
        </p:txBody>
      </p:sp>
      <p:sp>
        <p:nvSpPr>
          <p:cNvPr id="16" name="Text 14"/>
          <p:cNvSpPr txBox="1"/>
          <p:nvPr/>
        </p:nvSpPr>
        <p:spPr>
          <a:xfrm>
            <a:off x="8394192" y="5285232"/>
            <a:ext cx="2971800" cy="502920"/>
          </a:xfrm>
          <a:prstGeom prst="rect">
            <a:avLst/>
          </a:prstGeom>
          <a:noFill/>
          <a:ln/>
        </p:spPr>
        <p:txBody>
          <a:bodyPr wrap="square" lIns="0" tIns="0" rIns="0" bIns="0" rtlCol="0" anchor="t"/>
          <a:lstStyle/>
          <a:p>
            <a:pPr indent="0" marL="0">
              <a:buNone/>
            </a:pPr>
            <a:r>
              <a:rPr lang="en-US" sz="1600" b="1" dirty="0">
                <a:solidFill>
                  <a:srgbClr val="1F2937"/>
                </a:solidFill>
                <a:latin typeface="Calibri" pitchFamily="34" charset="0"/>
                <a:ea typeface="Calibri" pitchFamily="34" charset="-122"/>
                <a:cs typeface="Calibri" pitchFamily="34" charset="-120"/>
              </a:rPr>
              <a:t>OS &amp; Systems Programming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594360"/>
          </a:xfrm>
          <a:prstGeom prst="rect">
            <a:avLst/>
          </a:prstGeom>
          <a:noFill/>
          <a:ln/>
        </p:spPr>
        <p:txBody>
          <a:bodyPr wrap="square" lIns="0" tIns="0" rIns="0" bIns="0" rtlCol="0" anchor="ctr"/>
          <a:lstStyle/>
          <a:p>
            <a:pPr algn="ctr" indent="0" marL="0">
              <a:buNone/>
            </a:pPr>
            <a:r>
              <a:rPr lang="en-US" sz="3200" b="1" dirty="0">
                <a:solidFill>
                  <a:srgbClr val="1F2937"/>
                </a:solidFill>
                <a:latin typeface="Calibri" pitchFamily="34" charset="0"/>
                <a:ea typeface="Calibri" pitchFamily="34" charset="-122"/>
                <a:cs typeface="Calibri" pitchFamily="34" charset="-120"/>
              </a:rPr>
              <a:t>Problem Statement</a:t>
            </a:r>
            <a:endParaRPr lang="en-US" sz="3200" dirty="0"/>
          </a:p>
        </p:txBody>
      </p:sp>
      <p:sp>
        <p:nvSpPr>
          <p:cNvPr id="3" name="Text 1"/>
          <p:cNvSpPr txBox="1"/>
          <p:nvPr/>
        </p:nvSpPr>
        <p:spPr>
          <a:xfrm>
            <a:off x="548640" y="868680"/>
            <a:ext cx="11091672" cy="320040"/>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Why asynchronous file processing is needed</a:t>
            </a:r>
            <a:endParaRPr lang="en-US" sz="14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OSSP • Team 20</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6" name="Shape 4"/>
          <p:cNvSpPr/>
          <p:nvPr/>
        </p:nvSpPr>
        <p:spPr>
          <a:xfrm>
            <a:off x="566928" y="1371600"/>
            <a:ext cx="3502152" cy="3931920"/>
          </a:xfrm>
          <a:prstGeom prst="roundRect">
            <a:avLst>
              <a:gd name="adj" fmla="val 3133"/>
            </a:avLst>
          </a:prstGeom>
          <a:solidFill>
            <a:srgbClr val="EAF2F8"/>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841248" y="1600200"/>
            <a:ext cx="2926080" cy="365760"/>
          </a:xfrm>
          <a:prstGeom prst="rect">
            <a:avLst/>
          </a:prstGeom>
          <a:noFill/>
          <a:ln/>
        </p:spPr>
        <p:txBody>
          <a:bodyPr wrap="square" lIns="0" tIns="0" rIns="0" bIns="0" rtlCol="0" anchor="ctr"/>
          <a:lstStyle/>
          <a:p>
            <a:pPr indent="0" marL="0">
              <a:buNone/>
            </a:pPr>
            <a:r>
              <a:rPr lang="en-US" sz="1800" b="1" dirty="0">
                <a:solidFill>
                  <a:srgbClr val="2F75B5"/>
                </a:solidFill>
                <a:latin typeface="Calibri" pitchFamily="34" charset="0"/>
                <a:ea typeface="Calibri" pitchFamily="34" charset="-122"/>
                <a:cs typeface="Calibri" pitchFamily="34" charset="-120"/>
              </a:rPr>
              <a:t>SITUATION</a:t>
            </a:r>
            <a:endParaRPr lang="en-US" sz="1800" dirty="0"/>
          </a:p>
        </p:txBody>
      </p:sp>
      <p:sp>
        <p:nvSpPr>
          <p:cNvPr id="8" name="Text 6"/>
          <p:cNvSpPr txBox="1"/>
          <p:nvPr/>
        </p:nvSpPr>
        <p:spPr>
          <a:xfrm>
            <a:off x="841248" y="2194560"/>
            <a:ext cx="3017520" cy="2926080"/>
          </a:xfrm>
          <a:prstGeom prst="rect">
            <a:avLst/>
          </a:prstGeom>
          <a:noFill/>
          <a:ln/>
        </p:spPr>
        <p:txBody>
          <a:bodyPr wrap="square" lIns="0" tIns="0" rIns="0" bIns="0" rtlCol="0" anchor="t"/>
          <a:lstStyle/>
          <a:p>
            <a:pPr marL="228600" indent="-2286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A cloud storage company receives thousands of file operations from clients</a:t>
            </a:r>
            <a:endParaRPr lang="en-US" sz="1500" dirty="0"/>
          </a:p>
          <a:p>
            <a:pPr marL="228600" indent="-2286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Requests open, read and write files</a:t>
            </a:r>
            <a:endParaRPr lang="en-US" sz="1500" dirty="0"/>
          </a:p>
          <a:p>
            <a:pPr marL="228600" indent="-2286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Results must be returned to each client</a:t>
            </a:r>
            <a:endParaRPr lang="en-US" sz="1500" dirty="0"/>
          </a:p>
        </p:txBody>
      </p:sp>
      <p:sp>
        <p:nvSpPr>
          <p:cNvPr id="9" name="Shape 7"/>
          <p:cNvSpPr/>
          <p:nvPr/>
        </p:nvSpPr>
        <p:spPr>
          <a:xfrm>
            <a:off x="4343400" y="1371600"/>
            <a:ext cx="3502152" cy="3931920"/>
          </a:xfrm>
          <a:prstGeom prst="roundRect">
            <a:avLst>
              <a:gd name="adj" fmla="val 3133"/>
            </a:avLst>
          </a:prstGeom>
          <a:solidFill>
            <a:srgbClr val="FBF3E7"/>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4617720" y="1600200"/>
            <a:ext cx="2926080" cy="365760"/>
          </a:xfrm>
          <a:prstGeom prst="rect">
            <a:avLst/>
          </a:prstGeom>
          <a:noFill/>
          <a:ln/>
        </p:spPr>
        <p:txBody>
          <a:bodyPr wrap="square" lIns="0" tIns="0" rIns="0" bIns="0" rtlCol="0" anchor="ctr"/>
          <a:lstStyle/>
          <a:p>
            <a:pPr indent="0" marL="0">
              <a:buNone/>
            </a:pPr>
            <a:r>
              <a:rPr lang="en-US" sz="1800" b="1" dirty="0">
                <a:solidFill>
                  <a:srgbClr val="C97A22"/>
                </a:solidFill>
                <a:latin typeface="Calibri" pitchFamily="34" charset="0"/>
                <a:ea typeface="Calibri" pitchFamily="34" charset="-122"/>
                <a:cs typeface="Calibri" pitchFamily="34" charset="-120"/>
              </a:rPr>
              <a:t>PROBLEM</a:t>
            </a:r>
            <a:endParaRPr lang="en-US" sz="1800" dirty="0"/>
          </a:p>
        </p:txBody>
      </p:sp>
      <p:sp>
        <p:nvSpPr>
          <p:cNvPr id="11" name="Text 9"/>
          <p:cNvSpPr txBox="1"/>
          <p:nvPr/>
        </p:nvSpPr>
        <p:spPr>
          <a:xfrm>
            <a:off x="4617720" y="2194560"/>
            <a:ext cx="3017520" cy="2926080"/>
          </a:xfrm>
          <a:prstGeom prst="rect">
            <a:avLst/>
          </a:prstGeom>
          <a:noFill/>
          <a:ln/>
        </p:spPr>
        <p:txBody>
          <a:bodyPr wrap="square" lIns="0" tIns="0" rIns="0" bIns="0" rtlCol="0" anchor="t"/>
          <a:lstStyle/>
          <a:p>
            <a:pPr marL="228600" indent="-2286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Synchronous processing handles one request at a time</a:t>
            </a:r>
            <a:endParaRPr lang="en-US" sz="1500" dirty="0"/>
          </a:p>
          <a:p>
            <a:pPr marL="228600" indent="-2286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Other clients must wait in line</a:t>
            </a:r>
            <a:endParaRPr lang="en-US" sz="1500" dirty="0"/>
          </a:p>
          <a:p>
            <a:pPr marL="228600" indent="-2286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Server performance drops under heavy load</a:t>
            </a:r>
            <a:endParaRPr lang="en-US" sz="1500" dirty="0"/>
          </a:p>
        </p:txBody>
      </p:sp>
      <p:sp>
        <p:nvSpPr>
          <p:cNvPr id="12" name="Shape 10"/>
          <p:cNvSpPr/>
          <p:nvPr/>
        </p:nvSpPr>
        <p:spPr>
          <a:xfrm>
            <a:off x="8119872" y="1371600"/>
            <a:ext cx="3502152" cy="3931920"/>
          </a:xfrm>
          <a:prstGeom prst="roundRect">
            <a:avLst>
              <a:gd name="adj" fmla="val 3133"/>
            </a:avLst>
          </a:prstGeom>
          <a:solidFill>
            <a:srgbClr val="E9F6F3"/>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8394192" y="1600200"/>
            <a:ext cx="2926080" cy="365760"/>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WHAT IS NEEDED</a:t>
            </a:r>
            <a:endParaRPr lang="en-US" sz="1800" dirty="0"/>
          </a:p>
        </p:txBody>
      </p:sp>
      <p:sp>
        <p:nvSpPr>
          <p:cNvPr id="14" name="Text 12"/>
          <p:cNvSpPr txBox="1"/>
          <p:nvPr/>
        </p:nvSpPr>
        <p:spPr>
          <a:xfrm>
            <a:off x="8394192" y="2194560"/>
            <a:ext cx="3017520" cy="2926080"/>
          </a:xfrm>
          <a:prstGeom prst="rect">
            <a:avLst/>
          </a:prstGeom>
          <a:noFill/>
          <a:ln/>
        </p:spPr>
        <p:txBody>
          <a:bodyPr wrap="square" lIns="0" tIns="0" rIns="0" bIns="0" rtlCol="0" anchor="t"/>
          <a:lstStyle/>
          <a:p>
            <a:pPr marL="228600" indent="-2286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An asynchronous I/O server</a:t>
            </a:r>
            <a:endParaRPr lang="en-US" sz="1500" dirty="0"/>
          </a:p>
          <a:p>
            <a:pPr marL="228600" indent="-2286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Handles many file and network operations together</a:t>
            </a:r>
            <a:endParaRPr lang="en-US" sz="1500" dirty="0"/>
          </a:p>
          <a:p>
            <a:pPr marL="228600" indent="-2286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Keeps accepting requests while others are processed</a:t>
            </a:r>
            <a:endParaRPr lang="en-US" sz="1500" dirty="0"/>
          </a:p>
        </p:txBody>
      </p:sp>
      <p:sp>
        <p:nvSpPr>
          <p:cNvPr id="15" name="Shape 13"/>
          <p:cNvSpPr/>
          <p:nvPr/>
        </p:nvSpPr>
        <p:spPr>
          <a:xfrm>
            <a:off x="566928" y="5532120"/>
            <a:ext cx="11055096" cy="640080"/>
          </a:xfrm>
          <a:prstGeom prst="roundRect">
            <a:avLst>
              <a:gd name="adj" fmla="val 17143"/>
            </a:avLst>
          </a:prstGeom>
          <a:solidFill>
            <a:srgbClr val="FFFFFF"/>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566928" y="5532120"/>
            <a:ext cx="11055096" cy="640080"/>
          </a:xfrm>
          <a:prstGeom prst="rect">
            <a:avLst/>
          </a:prstGeom>
          <a:noFill/>
          <a:ln/>
        </p:spPr>
        <p:txBody>
          <a:bodyPr wrap="square" lIns="0" tIns="0" rIns="0" bIns="0" rtlCol="0" anchor="ctr"/>
          <a:lstStyle/>
          <a:p>
            <a:pPr algn="ctr" indent="0" marL="0">
              <a:buNone/>
            </a:pPr>
            <a:r>
              <a:rPr lang="en-US" sz="1700" b="1" dirty="0">
                <a:solidFill>
                  <a:srgbClr val="1F4E79"/>
                </a:solidFill>
                <a:latin typeface="Calibri" pitchFamily="34" charset="0"/>
                <a:ea typeface="Calibri" pitchFamily="34" charset="-122"/>
                <a:cs typeface="Calibri" pitchFamily="34" charset="-120"/>
              </a:rPr>
              <a:t>Goal: keep accepting and processing multiple client requests efficiently.</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594360"/>
          </a:xfrm>
          <a:prstGeom prst="rect">
            <a:avLst/>
          </a:prstGeom>
          <a:noFill/>
          <a:ln/>
        </p:spPr>
        <p:txBody>
          <a:bodyPr wrap="square" lIns="0" tIns="0" rIns="0" bIns="0" rtlCol="0" anchor="ctr"/>
          <a:lstStyle/>
          <a:p>
            <a:pPr algn="ctr" indent="0" marL="0">
              <a:buNone/>
            </a:pPr>
            <a:r>
              <a:rPr lang="en-US" sz="3200" b="1" dirty="0">
                <a:solidFill>
                  <a:srgbClr val="1F2937"/>
                </a:solidFill>
                <a:latin typeface="Calibri" pitchFamily="34" charset="0"/>
                <a:ea typeface="Calibri" pitchFamily="34" charset="-122"/>
                <a:cs typeface="Calibri" pitchFamily="34" charset="-120"/>
              </a:rPr>
              <a:t>Objectives</a:t>
            </a:r>
            <a:endParaRPr lang="en-US" sz="3200" dirty="0"/>
          </a:p>
        </p:txBody>
      </p:sp>
      <p:sp>
        <p:nvSpPr>
          <p:cNvPr id="3" name="Text 1"/>
          <p:cNvSpPr txBox="1"/>
          <p:nvPr/>
        </p:nvSpPr>
        <p:spPr>
          <a:xfrm>
            <a:off x="548640" y="868680"/>
            <a:ext cx="11091672" cy="320040"/>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Six things the project is designed to achieve</a:t>
            </a:r>
            <a:endParaRPr lang="en-US" sz="14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OSSP • Team 20</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
        <p:nvSpPr>
          <p:cNvPr id="6" name="Shape 4"/>
          <p:cNvSpPr/>
          <p:nvPr/>
        </p:nvSpPr>
        <p:spPr>
          <a:xfrm>
            <a:off x="566928" y="1371600"/>
            <a:ext cx="3502152" cy="1965960"/>
          </a:xfrm>
          <a:prstGeom prst="roundRect">
            <a:avLst>
              <a:gd name="adj" fmla="val 5581"/>
            </a:avLst>
          </a:prstGeom>
          <a:solidFill>
            <a:srgbClr val="EAF2F8"/>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841248" y="1627632"/>
            <a:ext cx="502920" cy="502920"/>
          </a:xfrm>
          <a:prstGeom prst="ellipse">
            <a:avLst/>
          </a:prstGeom>
          <a:solidFill>
            <a:srgbClr val="2F75B5"/>
          </a:solidFill>
          <a:ln w="12700">
            <a:solidFill>
              <a:srgbClr val="2F75B5"/>
            </a:solidFill>
            <a:prstDash val="solid"/>
          </a:ln>
        </p:spPr>
      </p:sp>
      <p:sp>
        <p:nvSpPr>
          <p:cNvPr id="8" name="Text 6"/>
          <p:cNvSpPr txBox="1"/>
          <p:nvPr/>
        </p:nvSpPr>
        <p:spPr>
          <a:xfrm>
            <a:off x="841248" y="16276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txBox="1"/>
          <p:nvPr/>
        </p:nvSpPr>
        <p:spPr>
          <a:xfrm>
            <a:off x="1481328" y="1627632"/>
            <a:ext cx="2468880" cy="502920"/>
          </a:xfrm>
          <a:prstGeom prst="rect">
            <a:avLst/>
          </a:prstGeom>
          <a:noFill/>
          <a:ln/>
        </p:spPr>
        <p:txBody>
          <a:bodyPr wrap="square" lIns="0" tIns="0" rIns="0" bIns="0" rtlCol="0" anchor="ctr"/>
          <a:lstStyle/>
          <a:p>
            <a:pPr indent="0" marL="0">
              <a:buNone/>
            </a:pPr>
            <a:r>
              <a:rPr lang="en-US" sz="1900" b="1" dirty="0">
                <a:solidFill>
                  <a:srgbClr val="2F75B5"/>
                </a:solidFill>
                <a:latin typeface="Calibri" pitchFamily="34" charset="0"/>
                <a:ea typeface="Calibri" pitchFamily="34" charset="-122"/>
                <a:cs typeface="Calibri" pitchFamily="34" charset="-120"/>
              </a:rPr>
              <a:t>Multiple clients</a:t>
            </a:r>
            <a:endParaRPr lang="en-US" sz="1900" dirty="0"/>
          </a:p>
        </p:txBody>
      </p:sp>
      <p:sp>
        <p:nvSpPr>
          <p:cNvPr id="10" name="Text 8"/>
          <p:cNvSpPr txBox="1"/>
          <p:nvPr/>
        </p:nvSpPr>
        <p:spPr>
          <a:xfrm>
            <a:off x="841248" y="2286000"/>
            <a:ext cx="2971800" cy="86868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Accept and handle multiple client requests concurrently.</a:t>
            </a:r>
            <a:endParaRPr lang="en-US" sz="1500" dirty="0"/>
          </a:p>
        </p:txBody>
      </p:sp>
      <p:sp>
        <p:nvSpPr>
          <p:cNvPr id="11" name="Shape 9"/>
          <p:cNvSpPr/>
          <p:nvPr/>
        </p:nvSpPr>
        <p:spPr>
          <a:xfrm>
            <a:off x="4343400" y="1371600"/>
            <a:ext cx="3502152" cy="1965960"/>
          </a:xfrm>
          <a:prstGeom prst="roundRect">
            <a:avLst>
              <a:gd name="adj" fmla="val 5581"/>
            </a:avLst>
          </a:prstGeom>
          <a:solidFill>
            <a:srgbClr val="E9F6F3"/>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4617720" y="1627632"/>
            <a:ext cx="502920" cy="502920"/>
          </a:xfrm>
          <a:prstGeom prst="ellipse">
            <a:avLst/>
          </a:prstGeom>
          <a:solidFill>
            <a:srgbClr val="0F766E"/>
          </a:solidFill>
          <a:ln w="12700">
            <a:solidFill>
              <a:srgbClr val="0F766E"/>
            </a:solidFill>
            <a:prstDash val="solid"/>
          </a:ln>
        </p:spPr>
      </p:sp>
      <p:sp>
        <p:nvSpPr>
          <p:cNvPr id="13" name="Text 11"/>
          <p:cNvSpPr txBox="1"/>
          <p:nvPr/>
        </p:nvSpPr>
        <p:spPr>
          <a:xfrm>
            <a:off x="4617720" y="16276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txBox="1"/>
          <p:nvPr/>
        </p:nvSpPr>
        <p:spPr>
          <a:xfrm>
            <a:off x="5257800" y="1627632"/>
            <a:ext cx="2468880" cy="502920"/>
          </a:xfrm>
          <a:prstGeom prst="rect">
            <a:avLst/>
          </a:prstGeom>
          <a:noFill/>
          <a:ln/>
        </p:spPr>
        <p:txBody>
          <a:bodyPr wrap="square" lIns="0" tIns="0" rIns="0" bIns="0" rtlCol="0" anchor="ctr"/>
          <a:lstStyle/>
          <a:p>
            <a:pPr indent="0" marL="0">
              <a:buNone/>
            </a:pPr>
            <a:r>
              <a:rPr lang="en-US" sz="1900" b="1" dirty="0">
                <a:solidFill>
                  <a:srgbClr val="0F766E"/>
                </a:solidFill>
                <a:latin typeface="Calibri" pitchFamily="34" charset="0"/>
                <a:ea typeface="Calibri" pitchFamily="34" charset="-122"/>
                <a:cs typeface="Calibri" pitchFamily="34" charset="-120"/>
              </a:rPr>
              <a:t>File operations</a:t>
            </a:r>
            <a:endParaRPr lang="en-US" sz="1900" dirty="0"/>
          </a:p>
        </p:txBody>
      </p:sp>
      <p:sp>
        <p:nvSpPr>
          <p:cNvPr id="15" name="Text 13"/>
          <p:cNvSpPr txBox="1"/>
          <p:nvPr/>
        </p:nvSpPr>
        <p:spPr>
          <a:xfrm>
            <a:off x="4617720" y="2286000"/>
            <a:ext cx="2971800" cy="86868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Support file-read and file-write operations.</a:t>
            </a:r>
            <a:endParaRPr lang="en-US" sz="1500" dirty="0"/>
          </a:p>
        </p:txBody>
      </p:sp>
      <p:sp>
        <p:nvSpPr>
          <p:cNvPr id="16" name="Shape 14"/>
          <p:cNvSpPr/>
          <p:nvPr/>
        </p:nvSpPr>
        <p:spPr>
          <a:xfrm>
            <a:off x="8119872" y="1371600"/>
            <a:ext cx="3502152" cy="1965960"/>
          </a:xfrm>
          <a:prstGeom prst="roundRect">
            <a:avLst>
              <a:gd name="adj" fmla="val 5581"/>
            </a:avLst>
          </a:prstGeom>
          <a:solidFill>
            <a:srgbClr val="F1ECF8"/>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8394192" y="1627632"/>
            <a:ext cx="502920" cy="502920"/>
          </a:xfrm>
          <a:prstGeom prst="ellipse">
            <a:avLst/>
          </a:prstGeom>
          <a:solidFill>
            <a:srgbClr val="6B4FA1"/>
          </a:solidFill>
          <a:ln w="12700">
            <a:solidFill>
              <a:srgbClr val="6B4FA1"/>
            </a:solidFill>
            <a:prstDash val="solid"/>
          </a:ln>
        </p:spPr>
      </p:sp>
      <p:sp>
        <p:nvSpPr>
          <p:cNvPr id="18" name="Text 16"/>
          <p:cNvSpPr txBox="1"/>
          <p:nvPr/>
        </p:nvSpPr>
        <p:spPr>
          <a:xfrm>
            <a:off x="8394192" y="16276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txBox="1"/>
          <p:nvPr/>
        </p:nvSpPr>
        <p:spPr>
          <a:xfrm>
            <a:off x="9034272" y="1627632"/>
            <a:ext cx="2468880" cy="502920"/>
          </a:xfrm>
          <a:prstGeom prst="rect">
            <a:avLst/>
          </a:prstGeom>
          <a:noFill/>
          <a:ln/>
        </p:spPr>
        <p:txBody>
          <a:bodyPr wrap="square" lIns="0" tIns="0" rIns="0" bIns="0" rtlCol="0" anchor="ctr"/>
          <a:lstStyle/>
          <a:p>
            <a:pPr indent="0" marL="0">
              <a:buNone/>
            </a:pPr>
            <a:r>
              <a:rPr lang="en-US" sz="1900" b="1" dirty="0">
                <a:solidFill>
                  <a:srgbClr val="6B4FA1"/>
                </a:solidFill>
                <a:latin typeface="Calibri" pitchFamily="34" charset="0"/>
                <a:ea typeface="Calibri" pitchFamily="34" charset="-122"/>
                <a:cs typeface="Calibri" pitchFamily="34" charset="-120"/>
              </a:rPr>
              <a:t>Request queue</a:t>
            </a:r>
            <a:endParaRPr lang="en-US" sz="1900" dirty="0"/>
          </a:p>
        </p:txBody>
      </p:sp>
      <p:sp>
        <p:nvSpPr>
          <p:cNvPr id="20" name="Text 18"/>
          <p:cNvSpPr txBox="1"/>
          <p:nvPr/>
        </p:nvSpPr>
        <p:spPr>
          <a:xfrm>
            <a:off x="8394192" y="2286000"/>
            <a:ext cx="2971800" cy="86868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Store pending I/O requests.</a:t>
            </a:r>
            <a:endParaRPr lang="en-US" sz="1500" dirty="0"/>
          </a:p>
        </p:txBody>
      </p:sp>
      <p:sp>
        <p:nvSpPr>
          <p:cNvPr id="21" name="Shape 19"/>
          <p:cNvSpPr/>
          <p:nvPr/>
        </p:nvSpPr>
        <p:spPr>
          <a:xfrm>
            <a:off x="566928" y="3520440"/>
            <a:ext cx="3502152" cy="1965960"/>
          </a:xfrm>
          <a:prstGeom prst="roundRect">
            <a:avLst>
              <a:gd name="adj" fmla="val 5581"/>
            </a:avLst>
          </a:prstGeom>
          <a:solidFill>
            <a:srgbClr val="FBF3E7"/>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22" name="Shape 20"/>
          <p:cNvSpPr/>
          <p:nvPr/>
        </p:nvSpPr>
        <p:spPr>
          <a:xfrm>
            <a:off x="841248" y="3776472"/>
            <a:ext cx="502920" cy="502920"/>
          </a:xfrm>
          <a:prstGeom prst="ellipse">
            <a:avLst/>
          </a:prstGeom>
          <a:solidFill>
            <a:srgbClr val="C97A22"/>
          </a:solidFill>
          <a:ln w="12700">
            <a:solidFill>
              <a:srgbClr val="C97A22"/>
            </a:solidFill>
            <a:prstDash val="solid"/>
          </a:ln>
        </p:spPr>
      </p:sp>
      <p:sp>
        <p:nvSpPr>
          <p:cNvPr id="23" name="Text 21"/>
          <p:cNvSpPr txBox="1"/>
          <p:nvPr/>
        </p:nvSpPr>
        <p:spPr>
          <a:xfrm>
            <a:off x="841248" y="377647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Text 22"/>
          <p:cNvSpPr txBox="1"/>
          <p:nvPr/>
        </p:nvSpPr>
        <p:spPr>
          <a:xfrm>
            <a:off x="1481328" y="3776472"/>
            <a:ext cx="2468880" cy="502920"/>
          </a:xfrm>
          <a:prstGeom prst="rect">
            <a:avLst/>
          </a:prstGeom>
          <a:noFill/>
          <a:ln/>
        </p:spPr>
        <p:txBody>
          <a:bodyPr wrap="square" lIns="0" tIns="0" rIns="0" bIns="0" rtlCol="0" anchor="ctr"/>
          <a:lstStyle/>
          <a:p>
            <a:pPr indent="0" marL="0">
              <a:buNone/>
            </a:pPr>
            <a:r>
              <a:rPr lang="en-US" sz="1900" b="1" dirty="0">
                <a:solidFill>
                  <a:srgbClr val="C97A22"/>
                </a:solidFill>
                <a:latin typeface="Calibri" pitchFamily="34" charset="0"/>
                <a:ea typeface="Calibri" pitchFamily="34" charset="-122"/>
                <a:cs typeface="Calibri" pitchFamily="34" charset="-120"/>
              </a:rPr>
              <a:t>Completion queue</a:t>
            </a:r>
            <a:endParaRPr lang="en-US" sz="1900" dirty="0"/>
          </a:p>
        </p:txBody>
      </p:sp>
      <p:sp>
        <p:nvSpPr>
          <p:cNvPr id="25" name="Text 23"/>
          <p:cNvSpPr txBox="1"/>
          <p:nvPr/>
        </p:nvSpPr>
        <p:spPr>
          <a:xfrm>
            <a:off x="841248" y="4434840"/>
            <a:ext cx="2971800" cy="86868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Store finished operations before returning results.</a:t>
            </a:r>
            <a:endParaRPr lang="en-US" sz="1500" dirty="0"/>
          </a:p>
        </p:txBody>
      </p:sp>
      <p:sp>
        <p:nvSpPr>
          <p:cNvPr id="26" name="Shape 24"/>
          <p:cNvSpPr/>
          <p:nvPr/>
        </p:nvSpPr>
        <p:spPr>
          <a:xfrm>
            <a:off x="4343400" y="3520440"/>
            <a:ext cx="3502152" cy="1965960"/>
          </a:xfrm>
          <a:prstGeom prst="roundRect">
            <a:avLst>
              <a:gd name="adj" fmla="val 5581"/>
            </a:avLst>
          </a:prstGeom>
          <a:solidFill>
            <a:srgbClr val="E9F6F3"/>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27" name="Shape 25"/>
          <p:cNvSpPr/>
          <p:nvPr/>
        </p:nvSpPr>
        <p:spPr>
          <a:xfrm>
            <a:off x="4617720" y="3776472"/>
            <a:ext cx="502920" cy="502920"/>
          </a:xfrm>
          <a:prstGeom prst="ellipse">
            <a:avLst/>
          </a:prstGeom>
          <a:solidFill>
            <a:srgbClr val="2E8B57"/>
          </a:solidFill>
          <a:ln w="12700">
            <a:solidFill>
              <a:srgbClr val="2E8B57"/>
            </a:solidFill>
            <a:prstDash val="solid"/>
          </a:ln>
        </p:spPr>
      </p:sp>
      <p:sp>
        <p:nvSpPr>
          <p:cNvPr id="28" name="Text 26"/>
          <p:cNvSpPr txBox="1"/>
          <p:nvPr/>
        </p:nvSpPr>
        <p:spPr>
          <a:xfrm>
            <a:off x="4617720" y="377647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9" name="Text 27"/>
          <p:cNvSpPr txBox="1"/>
          <p:nvPr/>
        </p:nvSpPr>
        <p:spPr>
          <a:xfrm>
            <a:off x="5257800" y="3776472"/>
            <a:ext cx="2468880" cy="502920"/>
          </a:xfrm>
          <a:prstGeom prst="rect">
            <a:avLst/>
          </a:prstGeom>
          <a:noFill/>
          <a:ln/>
        </p:spPr>
        <p:txBody>
          <a:bodyPr wrap="square" lIns="0" tIns="0" rIns="0" bIns="0" rtlCol="0" anchor="ctr"/>
          <a:lstStyle/>
          <a:p>
            <a:pPr indent="0" marL="0">
              <a:buNone/>
            </a:pPr>
            <a:r>
              <a:rPr lang="en-US" sz="1900" b="1" dirty="0">
                <a:solidFill>
                  <a:srgbClr val="2E8B57"/>
                </a:solidFill>
                <a:latin typeface="Calibri" pitchFamily="34" charset="0"/>
                <a:ea typeface="Calibri" pitchFamily="34" charset="-122"/>
                <a:cs typeface="Calibri" pitchFamily="34" charset="-120"/>
              </a:rPr>
              <a:t>Synchronization</a:t>
            </a:r>
            <a:endParaRPr lang="en-US" sz="1900" dirty="0"/>
          </a:p>
        </p:txBody>
      </p:sp>
      <p:sp>
        <p:nvSpPr>
          <p:cNvPr id="30" name="Text 28"/>
          <p:cNvSpPr txBox="1"/>
          <p:nvPr/>
        </p:nvSpPr>
        <p:spPr>
          <a:xfrm>
            <a:off x="4617720" y="4434840"/>
            <a:ext cx="2971800" cy="86868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Protect shared request data and queue structures.</a:t>
            </a:r>
            <a:endParaRPr lang="en-US" sz="1500" dirty="0"/>
          </a:p>
        </p:txBody>
      </p:sp>
      <p:sp>
        <p:nvSpPr>
          <p:cNvPr id="31" name="Shape 29"/>
          <p:cNvSpPr/>
          <p:nvPr/>
        </p:nvSpPr>
        <p:spPr>
          <a:xfrm>
            <a:off x="8119872" y="3520440"/>
            <a:ext cx="3502152" cy="1965960"/>
          </a:xfrm>
          <a:prstGeom prst="roundRect">
            <a:avLst>
              <a:gd name="adj" fmla="val 5581"/>
            </a:avLst>
          </a:prstGeom>
          <a:solidFill>
            <a:srgbClr val="FCEEEE"/>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32" name="Shape 30"/>
          <p:cNvSpPr/>
          <p:nvPr/>
        </p:nvSpPr>
        <p:spPr>
          <a:xfrm>
            <a:off x="8394192" y="3776472"/>
            <a:ext cx="502920" cy="502920"/>
          </a:xfrm>
          <a:prstGeom prst="ellipse">
            <a:avLst/>
          </a:prstGeom>
          <a:solidFill>
            <a:srgbClr val="B94A48"/>
          </a:solidFill>
          <a:ln w="12700">
            <a:solidFill>
              <a:srgbClr val="B94A48"/>
            </a:solidFill>
            <a:prstDash val="solid"/>
          </a:ln>
        </p:spPr>
      </p:sp>
      <p:sp>
        <p:nvSpPr>
          <p:cNvPr id="33" name="Text 31"/>
          <p:cNvSpPr txBox="1"/>
          <p:nvPr/>
        </p:nvSpPr>
        <p:spPr>
          <a:xfrm>
            <a:off x="8394192" y="377647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4" name="Text 32"/>
          <p:cNvSpPr txBox="1"/>
          <p:nvPr/>
        </p:nvSpPr>
        <p:spPr>
          <a:xfrm>
            <a:off x="9034272" y="3776472"/>
            <a:ext cx="2468880" cy="502920"/>
          </a:xfrm>
          <a:prstGeom prst="rect">
            <a:avLst/>
          </a:prstGeom>
          <a:noFill/>
          <a:ln/>
        </p:spPr>
        <p:txBody>
          <a:bodyPr wrap="square" lIns="0" tIns="0" rIns="0" bIns="0" rtlCol="0" anchor="ctr"/>
          <a:lstStyle/>
          <a:p>
            <a:pPr indent="0" marL="0">
              <a:buNone/>
            </a:pPr>
            <a:r>
              <a:rPr lang="en-US" sz="1900" b="1" dirty="0">
                <a:solidFill>
                  <a:srgbClr val="B94A48"/>
                </a:solidFill>
                <a:latin typeface="Calibri" pitchFamily="34" charset="0"/>
                <a:ea typeface="Calibri" pitchFamily="34" charset="-122"/>
                <a:cs typeface="Calibri" pitchFamily="34" charset="-120"/>
              </a:rPr>
              <a:t>Performance</a:t>
            </a:r>
            <a:endParaRPr lang="en-US" sz="1900" dirty="0"/>
          </a:p>
        </p:txBody>
      </p:sp>
      <p:sp>
        <p:nvSpPr>
          <p:cNvPr id="35" name="Text 33"/>
          <p:cNvSpPr txBox="1"/>
          <p:nvPr/>
        </p:nvSpPr>
        <p:spPr>
          <a:xfrm>
            <a:off x="8394192" y="4434840"/>
            <a:ext cx="2971800" cy="86868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Record times and calculate latency and throughput.</a:t>
            </a:r>
            <a:endParaRPr lang="en-US" sz="1500" dirty="0"/>
          </a:p>
        </p:txBody>
      </p:sp>
      <p:sp>
        <p:nvSpPr>
          <p:cNvPr id="36" name="Text 34"/>
          <p:cNvSpPr txBox="1"/>
          <p:nvPr/>
        </p:nvSpPr>
        <p:spPr>
          <a:xfrm>
            <a:off x="548640" y="5806440"/>
            <a:ext cx="11091672" cy="365760"/>
          </a:xfrm>
          <a:prstGeom prst="rect">
            <a:avLst/>
          </a:prstGeom>
          <a:noFill/>
          <a:ln/>
        </p:spPr>
        <p:txBody>
          <a:bodyPr wrap="square" lIns="0" tIns="0" rIns="0" bIns="0" rtlCol="0" anchor="ctr"/>
          <a:lstStyle/>
          <a:p>
            <a:pPr algn="ctr" indent="0" marL="0">
              <a:buNone/>
            </a:pPr>
            <a:r>
              <a:rPr lang="en-US" sz="1600" b="1" dirty="0">
                <a:solidFill>
                  <a:srgbClr val="1F4E79"/>
                </a:solidFill>
                <a:latin typeface="Calibri" pitchFamily="34" charset="0"/>
                <a:ea typeface="Calibri" pitchFamily="34" charset="-122"/>
                <a:cs typeface="Calibri" pitchFamily="34" charset="-120"/>
              </a:rPr>
              <a:t>Final target: a functional C-based asynchronous file-processing server.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594360"/>
          </a:xfrm>
          <a:prstGeom prst="rect">
            <a:avLst/>
          </a:prstGeom>
          <a:noFill/>
          <a:ln/>
        </p:spPr>
        <p:txBody>
          <a:bodyPr wrap="square" lIns="0" tIns="0" rIns="0" bIns="0" rtlCol="0" anchor="ctr"/>
          <a:lstStyle/>
          <a:p>
            <a:pPr algn="ctr" indent="0" marL="0">
              <a:buNone/>
            </a:pPr>
            <a:r>
              <a:rPr lang="en-US" sz="3200" b="1" dirty="0">
                <a:solidFill>
                  <a:srgbClr val="1F2937"/>
                </a:solidFill>
                <a:latin typeface="Calibri" pitchFamily="34" charset="0"/>
                <a:ea typeface="Calibri" pitchFamily="34" charset="-122"/>
                <a:cs typeface="Calibri" pitchFamily="34" charset="-120"/>
              </a:rPr>
              <a:t>OS / System-Programming Concepts</a:t>
            </a:r>
            <a:endParaRPr lang="en-US" sz="3200" dirty="0"/>
          </a:p>
        </p:txBody>
      </p:sp>
      <p:sp>
        <p:nvSpPr>
          <p:cNvPr id="3" name="Text 1"/>
          <p:cNvSpPr txBox="1"/>
          <p:nvPr/>
        </p:nvSpPr>
        <p:spPr>
          <a:xfrm>
            <a:off x="548640" y="868680"/>
            <a:ext cx="11091672" cy="320040"/>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Concept and the mechanism we used for it</a:t>
            </a:r>
            <a:endParaRPr lang="en-US" sz="14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OSSP • Team 20</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566928" y="1417320"/>
            <a:ext cx="2711196" cy="1783080"/>
          </a:xfrm>
          <a:prstGeom prst="roundRect">
            <a:avLst>
              <a:gd name="adj" fmla="val 6154"/>
            </a:avLst>
          </a:prstGeom>
          <a:solidFill>
            <a:srgbClr val="EAF2F8"/>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768096" y="1554480"/>
            <a:ext cx="2331720" cy="50292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Worker processes</a:t>
            </a:r>
            <a:endParaRPr lang="en-US" sz="1400" dirty="0"/>
          </a:p>
        </p:txBody>
      </p:sp>
      <p:sp>
        <p:nvSpPr>
          <p:cNvPr id="8" name="Text 6"/>
          <p:cNvSpPr txBox="1"/>
          <p:nvPr/>
        </p:nvSpPr>
        <p:spPr>
          <a:xfrm>
            <a:off x="768096" y="2075688"/>
            <a:ext cx="2331720" cy="365760"/>
          </a:xfrm>
          <a:prstGeom prst="rect">
            <a:avLst/>
          </a:prstGeom>
          <a:noFill/>
          <a:ln/>
        </p:spPr>
        <p:txBody>
          <a:bodyPr wrap="square" lIns="0" tIns="0" rIns="0" bIns="0" rtlCol="0" anchor="t"/>
          <a:lstStyle/>
          <a:p>
            <a:pPr indent="0" marL="0">
              <a:buNone/>
            </a:pPr>
            <a:r>
              <a:rPr lang="en-US" sz="1500" b="1" dirty="0">
                <a:solidFill>
                  <a:srgbClr val="2F75B5"/>
                </a:solidFill>
                <a:latin typeface="Calibri" pitchFamily="34" charset="0"/>
                <a:ea typeface="Calibri" pitchFamily="34" charset="-122"/>
                <a:cs typeface="Calibri" pitchFamily="34" charset="-120"/>
              </a:rPr>
              <a:t>fork()</a:t>
            </a:r>
            <a:endParaRPr lang="en-US" sz="1500" dirty="0"/>
          </a:p>
        </p:txBody>
      </p:sp>
      <p:sp>
        <p:nvSpPr>
          <p:cNvPr id="9" name="Text 7"/>
          <p:cNvSpPr txBox="1"/>
          <p:nvPr/>
        </p:nvSpPr>
        <p:spPr>
          <a:xfrm>
            <a:off x="768096" y="2468880"/>
            <a:ext cx="23317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Creates a child process for each worker.</a:t>
            </a:r>
            <a:endParaRPr lang="en-US" sz="1200" dirty="0"/>
          </a:p>
        </p:txBody>
      </p:sp>
      <p:sp>
        <p:nvSpPr>
          <p:cNvPr id="10" name="Shape 8"/>
          <p:cNvSpPr/>
          <p:nvPr/>
        </p:nvSpPr>
        <p:spPr>
          <a:xfrm>
            <a:off x="3433572" y="1417320"/>
            <a:ext cx="2711196" cy="1783080"/>
          </a:xfrm>
          <a:prstGeom prst="roundRect">
            <a:avLst>
              <a:gd name="adj" fmla="val 6154"/>
            </a:avLst>
          </a:prstGeom>
          <a:solidFill>
            <a:srgbClr val="E9F6F3"/>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3634740" y="1554480"/>
            <a:ext cx="2331720" cy="50292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Process communication</a:t>
            </a:r>
            <a:endParaRPr lang="en-US" sz="1400" dirty="0"/>
          </a:p>
        </p:txBody>
      </p:sp>
      <p:sp>
        <p:nvSpPr>
          <p:cNvPr id="12" name="Text 10"/>
          <p:cNvSpPr txBox="1"/>
          <p:nvPr/>
        </p:nvSpPr>
        <p:spPr>
          <a:xfrm>
            <a:off x="3634740" y="2075688"/>
            <a:ext cx="2331720" cy="365760"/>
          </a:xfrm>
          <a:prstGeom prst="rect">
            <a:avLst/>
          </a:prstGeom>
          <a:noFill/>
          <a:ln/>
        </p:spPr>
        <p:txBody>
          <a:bodyPr wrap="square" lIns="0" tIns="0" rIns="0" bIns="0" rtlCol="0" anchor="t"/>
          <a:lstStyle/>
          <a:p>
            <a:pPr indent="0" marL="0">
              <a:buNone/>
            </a:pPr>
            <a:r>
              <a:rPr lang="en-US" sz="1500" b="1" dirty="0">
                <a:solidFill>
                  <a:srgbClr val="0F766E"/>
                </a:solidFill>
                <a:latin typeface="Calibri" pitchFamily="34" charset="0"/>
                <a:ea typeface="Calibri" pitchFamily="34" charset="-122"/>
                <a:cs typeface="Calibri" pitchFamily="34" charset="-120"/>
              </a:rPr>
              <a:t>Pipes</a:t>
            </a:r>
            <a:endParaRPr lang="en-US" sz="1500" dirty="0"/>
          </a:p>
        </p:txBody>
      </p:sp>
      <p:sp>
        <p:nvSpPr>
          <p:cNvPr id="13" name="Text 11"/>
          <p:cNvSpPr txBox="1"/>
          <p:nvPr/>
        </p:nvSpPr>
        <p:spPr>
          <a:xfrm>
            <a:off x="3634740" y="2468880"/>
            <a:ext cx="23317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Passes data between server and worker.</a:t>
            </a:r>
            <a:endParaRPr lang="en-US" sz="1200" dirty="0"/>
          </a:p>
        </p:txBody>
      </p:sp>
      <p:sp>
        <p:nvSpPr>
          <p:cNvPr id="14" name="Shape 12"/>
          <p:cNvSpPr/>
          <p:nvPr/>
        </p:nvSpPr>
        <p:spPr>
          <a:xfrm>
            <a:off x="6300216" y="1417320"/>
            <a:ext cx="2711196" cy="1783080"/>
          </a:xfrm>
          <a:prstGeom prst="roundRect">
            <a:avLst>
              <a:gd name="adj" fmla="val 6154"/>
            </a:avLst>
          </a:prstGeom>
          <a:solidFill>
            <a:srgbClr val="F1ECF8"/>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6501384" y="1554480"/>
            <a:ext cx="2331720" cy="50292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Client–server link</a:t>
            </a:r>
            <a:endParaRPr lang="en-US" sz="1400" dirty="0"/>
          </a:p>
        </p:txBody>
      </p:sp>
      <p:sp>
        <p:nvSpPr>
          <p:cNvPr id="16" name="Text 14"/>
          <p:cNvSpPr txBox="1"/>
          <p:nvPr/>
        </p:nvSpPr>
        <p:spPr>
          <a:xfrm>
            <a:off x="6501384" y="2075688"/>
            <a:ext cx="2331720" cy="365760"/>
          </a:xfrm>
          <a:prstGeom prst="rect">
            <a:avLst/>
          </a:prstGeom>
          <a:noFill/>
          <a:ln/>
        </p:spPr>
        <p:txBody>
          <a:bodyPr wrap="square" lIns="0" tIns="0" rIns="0" bIns="0" rtlCol="0" anchor="t"/>
          <a:lstStyle/>
          <a:p>
            <a:pPr indent="0" marL="0">
              <a:buNone/>
            </a:pPr>
            <a:r>
              <a:rPr lang="en-US" sz="1500" b="1" dirty="0">
                <a:solidFill>
                  <a:srgbClr val="6B4FA1"/>
                </a:solidFill>
                <a:latin typeface="Calibri" pitchFamily="34" charset="0"/>
                <a:ea typeface="Calibri" pitchFamily="34" charset="-122"/>
                <a:cs typeface="Calibri" pitchFamily="34" charset="-120"/>
              </a:rPr>
              <a:t>Sockets</a:t>
            </a:r>
            <a:endParaRPr lang="en-US" sz="1500" dirty="0"/>
          </a:p>
        </p:txBody>
      </p:sp>
      <p:sp>
        <p:nvSpPr>
          <p:cNvPr id="17" name="Text 15"/>
          <p:cNvSpPr txBox="1"/>
          <p:nvPr/>
        </p:nvSpPr>
        <p:spPr>
          <a:xfrm>
            <a:off x="6501384" y="2468880"/>
            <a:ext cx="23317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TCP connection between client and server.</a:t>
            </a:r>
            <a:endParaRPr lang="en-US" sz="1200" dirty="0"/>
          </a:p>
        </p:txBody>
      </p:sp>
      <p:sp>
        <p:nvSpPr>
          <p:cNvPr id="18" name="Shape 16"/>
          <p:cNvSpPr/>
          <p:nvPr/>
        </p:nvSpPr>
        <p:spPr>
          <a:xfrm>
            <a:off x="9166860" y="1417320"/>
            <a:ext cx="2711196" cy="1783080"/>
          </a:xfrm>
          <a:prstGeom prst="roundRect">
            <a:avLst>
              <a:gd name="adj" fmla="val 6154"/>
            </a:avLst>
          </a:prstGeom>
          <a:solidFill>
            <a:srgbClr val="FBF3E7"/>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9368028" y="1554480"/>
            <a:ext cx="2331720" cy="50292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Request queue</a:t>
            </a:r>
            <a:endParaRPr lang="en-US" sz="1400" dirty="0"/>
          </a:p>
        </p:txBody>
      </p:sp>
      <p:sp>
        <p:nvSpPr>
          <p:cNvPr id="20" name="Text 18"/>
          <p:cNvSpPr txBox="1"/>
          <p:nvPr/>
        </p:nvSpPr>
        <p:spPr>
          <a:xfrm>
            <a:off x="9368028" y="2075688"/>
            <a:ext cx="2331720" cy="365760"/>
          </a:xfrm>
          <a:prstGeom prst="rect">
            <a:avLst/>
          </a:prstGeom>
          <a:noFill/>
          <a:ln/>
        </p:spPr>
        <p:txBody>
          <a:bodyPr wrap="square" lIns="0" tIns="0" rIns="0" bIns="0" rtlCol="0" anchor="t"/>
          <a:lstStyle/>
          <a:p>
            <a:pPr indent="0" marL="0">
              <a:buNone/>
            </a:pPr>
            <a:r>
              <a:rPr lang="en-US" sz="1500" b="1" dirty="0">
                <a:solidFill>
                  <a:srgbClr val="C97A22"/>
                </a:solidFill>
                <a:latin typeface="Calibri" pitchFamily="34" charset="0"/>
                <a:ea typeface="Calibri" pitchFamily="34" charset="-122"/>
                <a:cs typeface="Calibri" pitchFamily="34" charset="-120"/>
              </a:rPr>
              <a:t>Queue (array / linked list)</a:t>
            </a:r>
            <a:endParaRPr lang="en-US" sz="1500" dirty="0"/>
          </a:p>
        </p:txBody>
      </p:sp>
      <p:sp>
        <p:nvSpPr>
          <p:cNvPr id="21" name="Text 19"/>
          <p:cNvSpPr txBox="1"/>
          <p:nvPr/>
        </p:nvSpPr>
        <p:spPr>
          <a:xfrm>
            <a:off x="9368028" y="2468880"/>
            <a:ext cx="23317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Stores pending requests in order.</a:t>
            </a:r>
            <a:endParaRPr lang="en-US" sz="1200" dirty="0"/>
          </a:p>
        </p:txBody>
      </p:sp>
      <p:sp>
        <p:nvSpPr>
          <p:cNvPr id="22" name="Shape 20"/>
          <p:cNvSpPr/>
          <p:nvPr/>
        </p:nvSpPr>
        <p:spPr>
          <a:xfrm>
            <a:off x="566928" y="3383280"/>
            <a:ext cx="2711196" cy="1783080"/>
          </a:xfrm>
          <a:prstGeom prst="roundRect">
            <a:avLst>
              <a:gd name="adj" fmla="val 6154"/>
            </a:avLst>
          </a:prstGeom>
          <a:solidFill>
            <a:srgbClr val="E9F6F3"/>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23" name="Text 21"/>
          <p:cNvSpPr txBox="1"/>
          <p:nvPr/>
        </p:nvSpPr>
        <p:spPr>
          <a:xfrm>
            <a:off x="768096" y="3520440"/>
            <a:ext cx="2331720" cy="50292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Completion queue</a:t>
            </a:r>
            <a:endParaRPr lang="en-US" sz="1400" dirty="0"/>
          </a:p>
        </p:txBody>
      </p:sp>
      <p:sp>
        <p:nvSpPr>
          <p:cNvPr id="24" name="Text 22"/>
          <p:cNvSpPr txBox="1"/>
          <p:nvPr/>
        </p:nvSpPr>
        <p:spPr>
          <a:xfrm>
            <a:off x="768096" y="4041648"/>
            <a:ext cx="2331720" cy="365760"/>
          </a:xfrm>
          <a:prstGeom prst="rect">
            <a:avLst/>
          </a:prstGeom>
          <a:noFill/>
          <a:ln/>
        </p:spPr>
        <p:txBody>
          <a:bodyPr wrap="square" lIns="0" tIns="0" rIns="0" bIns="0" rtlCol="0" anchor="t"/>
          <a:lstStyle/>
          <a:p>
            <a:pPr indent="0" marL="0">
              <a:buNone/>
            </a:pPr>
            <a:r>
              <a:rPr lang="en-US" sz="1500" b="1" dirty="0">
                <a:solidFill>
                  <a:srgbClr val="2E8B57"/>
                </a:solidFill>
                <a:latin typeface="Calibri" pitchFamily="34" charset="0"/>
                <a:ea typeface="Calibri" pitchFamily="34" charset="-122"/>
                <a:cs typeface="Calibri" pitchFamily="34" charset="-120"/>
              </a:rPr>
              <a:t>Queue (array / linked list)</a:t>
            </a:r>
            <a:endParaRPr lang="en-US" sz="1500" dirty="0"/>
          </a:p>
        </p:txBody>
      </p:sp>
      <p:sp>
        <p:nvSpPr>
          <p:cNvPr id="25" name="Text 23"/>
          <p:cNvSpPr txBox="1"/>
          <p:nvPr/>
        </p:nvSpPr>
        <p:spPr>
          <a:xfrm>
            <a:off x="768096" y="4434840"/>
            <a:ext cx="23317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Holds finished results before reply.</a:t>
            </a:r>
            <a:endParaRPr lang="en-US" sz="1200" dirty="0"/>
          </a:p>
        </p:txBody>
      </p:sp>
      <p:sp>
        <p:nvSpPr>
          <p:cNvPr id="26" name="Shape 24"/>
          <p:cNvSpPr/>
          <p:nvPr/>
        </p:nvSpPr>
        <p:spPr>
          <a:xfrm>
            <a:off x="3433572" y="3383280"/>
            <a:ext cx="2711196" cy="1783080"/>
          </a:xfrm>
          <a:prstGeom prst="roundRect">
            <a:avLst>
              <a:gd name="adj" fmla="val 6154"/>
            </a:avLst>
          </a:prstGeom>
          <a:solidFill>
            <a:srgbClr val="EAF2F8"/>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27" name="Text 25"/>
          <p:cNvSpPr txBox="1"/>
          <p:nvPr/>
        </p:nvSpPr>
        <p:spPr>
          <a:xfrm>
            <a:off x="3634740" y="3520440"/>
            <a:ext cx="2331720" cy="50292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Synchronization</a:t>
            </a:r>
            <a:endParaRPr lang="en-US" sz="1400" dirty="0"/>
          </a:p>
        </p:txBody>
      </p:sp>
      <p:sp>
        <p:nvSpPr>
          <p:cNvPr id="28" name="Text 26"/>
          <p:cNvSpPr txBox="1"/>
          <p:nvPr/>
        </p:nvSpPr>
        <p:spPr>
          <a:xfrm>
            <a:off x="3634740" y="4041648"/>
            <a:ext cx="2331720" cy="365760"/>
          </a:xfrm>
          <a:prstGeom prst="rect">
            <a:avLst/>
          </a:prstGeom>
          <a:noFill/>
          <a:ln/>
        </p:spPr>
        <p:txBody>
          <a:bodyPr wrap="square" lIns="0" tIns="0" rIns="0" bIns="0" rtlCol="0" anchor="t"/>
          <a:lstStyle/>
          <a:p>
            <a:pPr indent="0" marL="0">
              <a:buNone/>
            </a:pPr>
            <a:r>
              <a:rPr lang="en-US" sz="1500" b="1" dirty="0">
                <a:solidFill>
                  <a:srgbClr val="2F75B5"/>
                </a:solidFill>
                <a:latin typeface="Calibri" pitchFamily="34" charset="0"/>
                <a:ea typeface="Calibri" pitchFamily="34" charset="-122"/>
                <a:cs typeface="Calibri" pitchFamily="34" charset="-120"/>
              </a:rPr>
              <a:t>Semaphores / Mutex locks</a:t>
            </a:r>
            <a:endParaRPr lang="en-US" sz="1500" dirty="0"/>
          </a:p>
        </p:txBody>
      </p:sp>
      <p:sp>
        <p:nvSpPr>
          <p:cNvPr id="29" name="Text 27"/>
          <p:cNvSpPr txBox="1"/>
          <p:nvPr/>
        </p:nvSpPr>
        <p:spPr>
          <a:xfrm>
            <a:off x="3634740" y="4434840"/>
            <a:ext cx="23317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Protects the shared queues.</a:t>
            </a:r>
            <a:endParaRPr lang="en-US" sz="1200" dirty="0"/>
          </a:p>
        </p:txBody>
      </p:sp>
      <p:sp>
        <p:nvSpPr>
          <p:cNvPr id="30" name="Shape 28"/>
          <p:cNvSpPr/>
          <p:nvPr/>
        </p:nvSpPr>
        <p:spPr>
          <a:xfrm>
            <a:off x="6300216" y="3383280"/>
            <a:ext cx="2711196" cy="1783080"/>
          </a:xfrm>
          <a:prstGeom prst="roundRect">
            <a:avLst>
              <a:gd name="adj" fmla="val 6154"/>
            </a:avLst>
          </a:prstGeom>
          <a:solidFill>
            <a:srgbClr val="F1ECF8"/>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31" name="Text 29"/>
          <p:cNvSpPr txBox="1"/>
          <p:nvPr/>
        </p:nvSpPr>
        <p:spPr>
          <a:xfrm>
            <a:off x="6501384" y="3520440"/>
            <a:ext cx="2331720" cy="50292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File read / write</a:t>
            </a:r>
            <a:endParaRPr lang="en-US" sz="1400" dirty="0"/>
          </a:p>
        </p:txBody>
      </p:sp>
      <p:sp>
        <p:nvSpPr>
          <p:cNvPr id="32" name="Text 30"/>
          <p:cNvSpPr txBox="1"/>
          <p:nvPr/>
        </p:nvSpPr>
        <p:spPr>
          <a:xfrm>
            <a:off x="6501384" y="4041648"/>
            <a:ext cx="2331720" cy="365760"/>
          </a:xfrm>
          <a:prstGeom prst="rect">
            <a:avLst/>
          </a:prstGeom>
          <a:noFill/>
          <a:ln/>
        </p:spPr>
        <p:txBody>
          <a:bodyPr wrap="square" lIns="0" tIns="0" rIns="0" bIns="0" rtlCol="0" anchor="t"/>
          <a:lstStyle/>
          <a:p>
            <a:pPr indent="0" marL="0">
              <a:buNone/>
            </a:pPr>
            <a:r>
              <a:rPr lang="en-US" sz="1500" b="1" dirty="0">
                <a:solidFill>
                  <a:srgbClr val="6B4FA1"/>
                </a:solidFill>
                <a:latin typeface="Calibri" pitchFamily="34" charset="0"/>
                <a:ea typeface="Calibri" pitchFamily="34" charset="-122"/>
                <a:cs typeface="Calibri" pitchFamily="34" charset="-120"/>
              </a:rPr>
              <a:t>open(), read(), write()</a:t>
            </a:r>
            <a:endParaRPr lang="en-US" sz="1500" dirty="0"/>
          </a:p>
        </p:txBody>
      </p:sp>
      <p:sp>
        <p:nvSpPr>
          <p:cNvPr id="33" name="Text 31"/>
          <p:cNvSpPr txBox="1"/>
          <p:nvPr/>
        </p:nvSpPr>
        <p:spPr>
          <a:xfrm>
            <a:off x="6501384" y="4434840"/>
            <a:ext cx="23317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Performs the actual file I/O.</a:t>
            </a:r>
            <a:endParaRPr lang="en-US" sz="1200" dirty="0"/>
          </a:p>
        </p:txBody>
      </p:sp>
      <p:sp>
        <p:nvSpPr>
          <p:cNvPr id="34" name="Shape 32"/>
          <p:cNvSpPr/>
          <p:nvPr/>
        </p:nvSpPr>
        <p:spPr>
          <a:xfrm>
            <a:off x="9166860" y="3383280"/>
            <a:ext cx="2711196" cy="1783080"/>
          </a:xfrm>
          <a:prstGeom prst="roundRect">
            <a:avLst>
              <a:gd name="adj" fmla="val 6154"/>
            </a:avLst>
          </a:prstGeom>
          <a:solidFill>
            <a:srgbClr val="FBF3E7"/>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35" name="Text 33"/>
          <p:cNvSpPr txBox="1"/>
          <p:nvPr/>
        </p:nvSpPr>
        <p:spPr>
          <a:xfrm>
            <a:off x="9368028" y="3520440"/>
            <a:ext cx="2331720" cy="50292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Waiting on workers</a:t>
            </a:r>
            <a:endParaRPr lang="en-US" sz="1400" dirty="0"/>
          </a:p>
        </p:txBody>
      </p:sp>
      <p:sp>
        <p:nvSpPr>
          <p:cNvPr id="36" name="Text 34"/>
          <p:cNvSpPr txBox="1"/>
          <p:nvPr/>
        </p:nvSpPr>
        <p:spPr>
          <a:xfrm>
            <a:off x="9368028" y="4041648"/>
            <a:ext cx="2331720" cy="365760"/>
          </a:xfrm>
          <a:prstGeom prst="rect">
            <a:avLst/>
          </a:prstGeom>
          <a:noFill/>
          <a:ln/>
        </p:spPr>
        <p:txBody>
          <a:bodyPr wrap="square" lIns="0" tIns="0" rIns="0" bIns="0" rtlCol="0" anchor="t"/>
          <a:lstStyle/>
          <a:p>
            <a:pPr indent="0" marL="0">
              <a:buNone/>
            </a:pPr>
            <a:r>
              <a:rPr lang="en-US" sz="1500" b="1" dirty="0">
                <a:solidFill>
                  <a:srgbClr val="C97A22"/>
                </a:solidFill>
                <a:latin typeface="Calibri" pitchFamily="34" charset="0"/>
                <a:ea typeface="Calibri" pitchFamily="34" charset="-122"/>
                <a:cs typeface="Calibri" pitchFamily="34" charset="-120"/>
              </a:rPr>
              <a:t>wait() / waitpid()</a:t>
            </a:r>
            <a:endParaRPr lang="en-US" sz="1500" dirty="0"/>
          </a:p>
        </p:txBody>
      </p:sp>
      <p:sp>
        <p:nvSpPr>
          <p:cNvPr id="37" name="Text 35"/>
          <p:cNvSpPr txBox="1"/>
          <p:nvPr/>
        </p:nvSpPr>
        <p:spPr>
          <a:xfrm>
            <a:off x="9368028" y="4434840"/>
            <a:ext cx="23317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Server waits for a child to finish.</a:t>
            </a:r>
            <a:endParaRPr lang="en-US" sz="1200" dirty="0"/>
          </a:p>
        </p:txBody>
      </p:sp>
      <p:sp>
        <p:nvSpPr>
          <p:cNvPr id="38" name="Text 36"/>
          <p:cNvSpPr txBox="1"/>
          <p:nvPr/>
        </p:nvSpPr>
        <p:spPr>
          <a:xfrm>
            <a:off x="548640" y="5532120"/>
            <a:ext cx="11091672" cy="365760"/>
          </a:xfrm>
          <a:prstGeom prst="rect">
            <a:avLst/>
          </a:prstGeom>
          <a:noFill/>
          <a:ln/>
        </p:spPr>
        <p:txBody>
          <a:bodyPr wrap="square" lIns="0" tIns="0" rIns="0" bIns="0" rtlCol="0" anchor="ctr"/>
          <a:lstStyle/>
          <a:p>
            <a:pPr algn="ctr" indent="0" marL="0">
              <a:buNone/>
            </a:pPr>
            <a:r>
              <a:rPr lang="en-US" sz="1300" dirty="0">
                <a:solidFill>
                  <a:srgbClr val="6B7280"/>
                </a:solidFill>
                <a:latin typeface="Calibri" pitchFamily="34" charset="0"/>
                <a:ea typeface="Calibri" pitchFamily="34" charset="-122"/>
                <a:cs typeface="Calibri" pitchFamily="34" charset="-120"/>
              </a:rPr>
              <a:t>Also tracked: concurrent connections • request/completion times • throughput • request latency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594360"/>
          </a:xfrm>
          <a:prstGeom prst="rect">
            <a:avLst/>
          </a:prstGeom>
          <a:noFill/>
          <a:ln/>
        </p:spPr>
        <p:txBody>
          <a:bodyPr wrap="square" lIns="0" tIns="0" rIns="0" bIns="0" rtlCol="0" anchor="ctr"/>
          <a:lstStyle/>
          <a:p>
            <a:pPr algn="ctr" indent="0" marL="0">
              <a:buNone/>
            </a:pPr>
            <a:r>
              <a:rPr lang="en-US" sz="3200" b="1" dirty="0">
                <a:solidFill>
                  <a:srgbClr val="1F2937"/>
                </a:solidFill>
                <a:latin typeface="Calibri" pitchFamily="34" charset="0"/>
                <a:ea typeface="Calibri" pitchFamily="34" charset="-122"/>
                <a:cs typeface="Calibri" pitchFamily="34" charset="-120"/>
              </a:rPr>
              <a:t>System Architecture</a:t>
            </a:r>
            <a:endParaRPr lang="en-US" sz="3200" dirty="0"/>
          </a:p>
        </p:txBody>
      </p:sp>
      <p:sp>
        <p:nvSpPr>
          <p:cNvPr id="3" name="Text 1"/>
          <p:cNvSpPr txBox="1"/>
          <p:nvPr/>
        </p:nvSpPr>
        <p:spPr>
          <a:xfrm>
            <a:off x="548640" y="868680"/>
            <a:ext cx="11091672" cy="320040"/>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Clear direction of requests and results</a:t>
            </a:r>
            <a:endParaRPr lang="en-US" sz="14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OSSP • Team 20</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518465" y="1463040"/>
            <a:ext cx="1828800" cy="2834640"/>
          </a:xfrm>
          <a:prstGeom prst="roundRect">
            <a:avLst>
              <a:gd name="adj" fmla="val 6000"/>
            </a:avLst>
          </a:prstGeom>
          <a:solidFill>
            <a:srgbClr val="EAF2F8"/>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609905" y="1645920"/>
            <a:ext cx="1645920" cy="502920"/>
          </a:xfrm>
          <a:prstGeom prst="rect">
            <a:avLst/>
          </a:prstGeom>
          <a:noFill/>
          <a:ln/>
        </p:spPr>
        <p:txBody>
          <a:bodyPr wrap="square" lIns="0" tIns="0" rIns="0" bIns="0" rtlCol="0" anchor="ctr"/>
          <a:lstStyle/>
          <a:p>
            <a:pPr algn="ctr" indent="0" marL="0">
              <a:buNone/>
            </a:pPr>
            <a:r>
              <a:rPr lang="en-US" sz="1500" b="1" dirty="0">
                <a:solidFill>
                  <a:srgbClr val="2F75B5"/>
                </a:solidFill>
                <a:latin typeface="Calibri" pitchFamily="34" charset="0"/>
                <a:ea typeface="Calibri" pitchFamily="34" charset="-122"/>
                <a:cs typeface="Calibri" pitchFamily="34" charset="-120"/>
              </a:rPr>
              <a:t>CLIENTS</a:t>
            </a:r>
            <a:endParaRPr lang="en-US" sz="1500" dirty="0"/>
          </a:p>
        </p:txBody>
      </p:sp>
      <p:sp>
        <p:nvSpPr>
          <p:cNvPr id="8" name="Text 6"/>
          <p:cNvSpPr txBox="1"/>
          <p:nvPr/>
        </p:nvSpPr>
        <p:spPr>
          <a:xfrm>
            <a:off x="609905" y="2286000"/>
            <a:ext cx="1645920" cy="1828800"/>
          </a:xfrm>
          <a:prstGeom prst="rect">
            <a:avLst/>
          </a:prstGeom>
          <a:noFill/>
          <a:ln/>
        </p:spPr>
        <p:txBody>
          <a:bodyPr wrap="square" lIns="0" tIns="0" rIns="0" bIns="0" rtlCol="0" anchor="t"/>
          <a:lstStyle/>
          <a:p>
            <a:pPr algn="ctr" indent="0" marL="0">
              <a:spcAft>
                <a:spcPts val="600"/>
              </a:spcAft>
              <a:buNone/>
            </a:pPr>
            <a:r>
              <a:rPr lang="en-US" sz="1300" dirty="0">
                <a:solidFill>
                  <a:srgbClr val="1F2937"/>
                </a:solidFill>
                <a:latin typeface="Calibri" pitchFamily="34" charset="0"/>
                <a:ea typeface="Calibri" pitchFamily="34" charset="-122"/>
                <a:cs typeface="Calibri" pitchFamily="34" charset="-120"/>
              </a:rPr>
              <a:t>Client 1: READ file1</a:t>
            </a:r>
            <a:endParaRPr lang="en-US" sz="1300" dirty="0"/>
          </a:p>
          <a:p>
            <a:pPr algn="ctr" indent="0" marL="0">
              <a:spcAft>
                <a:spcPts val="600"/>
              </a:spcAft>
              <a:buNone/>
            </a:pPr>
            <a:r>
              <a:rPr lang="en-US" sz="1300" dirty="0">
                <a:solidFill>
                  <a:srgbClr val="1F2937"/>
                </a:solidFill>
                <a:latin typeface="Calibri" pitchFamily="34" charset="0"/>
                <a:ea typeface="Calibri" pitchFamily="34" charset="-122"/>
                <a:cs typeface="Calibri" pitchFamily="34" charset="-120"/>
              </a:rPr>
              <a:t>Client 2: WRITE file2</a:t>
            </a:r>
            <a:endParaRPr lang="en-US" sz="1300" dirty="0"/>
          </a:p>
          <a:p>
            <a:pPr algn="ctr" indent="0" marL="0">
              <a:spcAft>
                <a:spcPts val="600"/>
              </a:spcAft>
              <a:buNone/>
            </a:pPr>
            <a:r>
              <a:rPr lang="en-US" sz="1300" dirty="0">
                <a:solidFill>
                  <a:srgbClr val="1F2937"/>
                </a:solidFill>
                <a:latin typeface="Calibri" pitchFamily="34" charset="0"/>
                <a:ea typeface="Calibri" pitchFamily="34" charset="-122"/>
                <a:cs typeface="Calibri" pitchFamily="34" charset="-120"/>
              </a:rPr>
              <a:t>Client 3: READ file3</a:t>
            </a:r>
            <a:endParaRPr lang="en-US" sz="1300" dirty="0"/>
          </a:p>
        </p:txBody>
      </p:sp>
      <p:sp>
        <p:nvSpPr>
          <p:cNvPr id="9" name="Shape 7"/>
          <p:cNvSpPr/>
          <p:nvPr/>
        </p:nvSpPr>
        <p:spPr>
          <a:xfrm>
            <a:off x="2420417" y="2743200"/>
            <a:ext cx="365760" cy="320040"/>
          </a:xfrm>
          <a:prstGeom prst="rightArrow">
            <a:avLst/>
          </a:prstGeom>
          <a:solidFill>
            <a:srgbClr val="1F4E79"/>
          </a:solidFill>
          <a:ln w="12700">
            <a:solidFill>
              <a:srgbClr val="1F4E79"/>
            </a:solidFill>
            <a:prstDash val="solid"/>
          </a:ln>
        </p:spPr>
      </p:sp>
      <p:sp>
        <p:nvSpPr>
          <p:cNvPr id="10" name="Shape 8"/>
          <p:cNvSpPr/>
          <p:nvPr/>
        </p:nvSpPr>
        <p:spPr>
          <a:xfrm>
            <a:off x="2850185" y="1463040"/>
            <a:ext cx="1828800" cy="2834640"/>
          </a:xfrm>
          <a:prstGeom prst="roundRect">
            <a:avLst>
              <a:gd name="adj" fmla="val 6000"/>
            </a:avLst>
          </a:prstGeom>
          <a:solidFill>
            <a:srgbClr val="E9F6F3"/>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2941625" y="1645920"/>
            <a:ext cx="1645920" cy="502920"/>
          </a:xfrm>
          <a:prstGeom prst="rect">
            <a:avLst/>
          </a:prstGeom>
          <a:noFill/>
          <a:ln/>
        </p:spPr>
        <p:txBody>
          <a:bodyPr wrap="square" lIns="0" tIns="0" rIns="0" bIns="0" rtlCol="0" anchor="ctr"/>
          <a:lstStyle/>
          <a:p>
            <a:pPr algn="ctr" indent="0" marL="0">
              <a:buNone/>
            </a:pPr>
            <a:r>
              <a:rPr lang="en-US" sz="1500" b="1" dirty="0">
                <a:solidFill>
                  <a:srgbClr val="0F766E"/>
                </a:solidFill>
                <a:latin typeface="Calibri" pitchFamily="34" charset="0"/>
                <a:ea typeface="Calibri" pitchFamily="34" charset="-122"/>
                <a:cs typeface="Calibri" pitchFamily="34" charset="-120"/>
              </a:rPr>
              <a:t>SERVER</a:t>
            </a:r>
            <a:endParaRPr lang="en-US" sz="1500" dirty="0"/>
          </a:p>
        </p:txBody>
      </p:sp>
      <p:sp>
        <p:nvSpPr>
          <p:cNvPr id="12" name="Text 10"/>
          <p:cNvSpPr txBox="1"/>
          <p:nvPr/>
        </p:nvSpPr>
        <p:spPr>
          <a:xfrm>
            <a:off x="2941625" y="2286000"/>
            <a:ext cx="1645920" cy="1828800"/>
          </a:xfrm>
          <a:prstGeom prst="rect">
            <a:avLst/>
          </a:prstGeom>
          <a:noFill/>
          <a:ln/>
        </p:spPr>
        <p:txBody>
          <a:bodyPr wrap="square" lIns="0" tIns="0" rIns="0" bIns="0" rtlCol="0" anchor="t"/>
          <a:lstStyle/>
          <a:p>
            <a:pPr algn="ctr" indent="0" marL="0">
              <a:spcAft>
                <a:spcPts val="600"/>
              </a:spcAft>
              <a:buNone/>
            </a:pPr>
            <a:r>
              <a:rPr lang="en-US" sz="1300" dirty="0">
                <a:solidFill>
                  <a:srgbClr val="1F2937"/>
                </a:solidFill>
                <a:latin typeface="Calibri" pitchFamily="34" charset="0"/>
                <a:ea typeface="Calibri" pitchFamily="34" charset="-122"/>
                <a:cs typeface="Calibri" pitchFamily="34" charset="-120"/>
              </a:rPr>
              <a:t>Accept connections</a:t>
            </a:r>
            <a:endParaRPr lang="en-US" sz="1300" dirty="0"/>
          </a:p>
          <a:p>
            <a:pPr algn="ctr" indent="0" marL="0">
              <a:spcAft>
                <a:spcPts val="600"/>
              </a:spcAft>
              <a:buNone/>
            </a:pPr>
            <a:r>
              <a:rPr lang="en-US" sz="1300" dirty="0">
                <a:solidFill>
                  <a:srgbClr val="1F2937"/>
                </a:solidFill>
                <a:latin typeface="Calibri" pitchFamily="34" charset="0"/>
                <a:ea typeface="Calibri" pitchFamily="34" charset="-122"/>
                <a:cs typeface="Calibri" pitchFamily="34" charset="-120"/>
              </a:rPr>
              <a:t>Receive requests</a:t>
            </a:r>
            <a:endParaRPr lang="en-US" sz="1300" dirty="0"/>
          </a:p>
          <a:p>
            <a:pPr algn="ctr" indent="0" marL="0">
              <a:spcAft>
                <a:spcPts val="600"/>
              </a:spcAft>
              <a:buNone/>
            </a:pPr>
            <a:r>
              <a:rPr lang="en-US" sz="1300" dirty="0">
                <a:solidFill>
                  <a:srgbClr val="1F2937"/>
                </a:solidFill>
                <a:latin typeface="Calibri" pitchFamily="34" charset="0"/>
                <a:ea typeface="Calibri" pitchFamily="34" charset="-122"/>
                <a:cs typeface="Calibri" pitchFamily="34" charset="-120"/>
              </a:rPr>
              <a:t>Manage queues</a:t>
            </a:r>
            <a:endParaRPr lang="en-US" sz="1300" dirty="0"/>
          </a:p>
          <a:p>
            <a:pPr algn="ctr" indent="0" marL="0">
              <a:spcAft>
                <a:spcPts val="600"/>
              </a:spcAft>
              <a:buNone/>
            </a:pPr>
            <a:r>
              <a:rPr lang="en-US" sz="1300" dirty="0">
                <a:solidFill>
                  <a:srgbClr val="1F2937"/>
                </a:solidFill>
                <a:latin typeface="Calibri" pitchFamily="34" charset="0"/>
                <a:ea typeface="Calibri" pitchFamily="34" charset="-122"/>
                <a:cs typeface="Calibri" pitchFamily="34" charset="-120"/>
              </a:rPr>
              <a:t>Return results</a:t>
            </a:r>
            <a:endParaRPr lang="en-US" sz="1300" dirty="0"/>
          </a:p>
        </p:txBody>
      </p:sp>
      <p:sp>
        <p:nvSpPr>
          <p:cNvPr id="13" name="Shape 11"/>
          <p:cNvSpPr/>
          <p:nvPr/>
        </p:nvSpPr>
        <p:spPr>
          <a:xfrm>
            <a:off x="4752137" y="2743200"/>
            <a:ext cx="365760" cy="320040"/>
          </a:xfrm>
          <a:prstGeom prst="rightArrow">
            <a:avLst/>
          </a:prstGeom>
          <a:solidFill>
            <a:srgbClr val="1F4E79"/>
          </a:solidFill>
          <a:ln w="12700">
            <a:solidFill>
              <a:srgbClr val="1F4E79"/>
            </a:solidFill>
            <a:prstDash val="solid"/>
          </a:ln>
        </p:spPr>
      </p:sp>
      <p:sp>
        <p:nvSpPr>
          <p:cNvPr id="14" name="Shape 12"/>
          <p:cNvSpPr/>
          <p:nvPr/>
        </p:nvSpPr>
        <p:spPr>
          <a:xfrm>
            <a:off x="5181905" y="1463040"/>
            <a:ext cx="1828800" cy="2834640"/>
          </a:xfrm>
          <a:prstGeom prst="roundRect">
            <a:avLst>
              <a:gd name="adj" fmla="val 6000"/>
            </a:avLst>
          </a:prstGeom>
          <a:solidFill>
            <a:srgbClr val="F1ECF8"/>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5273345" y="1645920"/>
            <a:ext cx="1645920" cy="502920"/>
          </a:xfrm>
          <a:prstGeom prst="rect">
            <a:avLst/>
          </a:prstGeom>
          <a:noFill/>
          <a:ln/>
        </p:spPr>
        <p:txBody>
          <a:bodyPr wrap="square" lIns="0" tIns="0" rIns="0" bIns="0" rtlCol="0" anchor="ctr"/>
          <a:lstStyle/>
          <a:p>
            <a:pPr algn="ctr" indent="0" marL="0">
              <a:buNone/>
            </a:pPr>
            <a:r>
              <a:rPr lang="en-US" sz="1500" b="1" dirty="0">
                <a:solidFill>
                  <a:srgbClr val="6B4FA1"/>
                </a:solidFill>
                <a:latin typeface="Calibri" pitchFamily="34" charset="0"/>
                <a:ea typeface="Calibri" pitchFamily="34" charset="-122"/>
                <a:cs typeface="Calibri" pitchFamily="34" charset="-120"/>
              </a:rPr>
              <a:t>REQUEST QUEUE</a:t>
            </a:r>
            <a:endParaRPr lang="en-US" sz="1500" dirty="0"/>
          </a:p>
        </p:txBody>
      </p:sp>
      <p:sp>
        <p:nvSpPr>
          <p:cNvPr id="16" name="Text 14"/>
          <p:cNvSpPr txBox="1"/>
          <p:nvPr/>
        </p:nvSpPr>
        <p:spPr>
          <a:xfrm>
            <a:off x="5273345" y="2286000"/>
            <a:ext cx="1645920" cy="1828800"/>
          </a:xfrm>
          <a:prstGeom prst="rect">
            <a:avLst/>
          </a:prstGeom>
          <a:noFill/>
          <a:ln/>
        </p:spPr>
        <p:txBody>
          <a:bodyPr wrap="square" lIns="0" tIns="0" rIns="0" bIns="0" rtlCol="0" anchor="t"/>
          <a:lstStyle/>
          <a:p>
            <a:pPr algn="ctr" indent="0" marL="0">
              <a:spcAft>
                <a:spcPts val="600"/>
              </a:spcAft>
              <a:buNone/>
            </a:pPr>
            <a:r>
              <a:rPr lang="en-US" sz="1300" dirty="0">
                <a:solidFill>
                  <a:srgbClr val="1F2937"/>
                </a:solidFill>
                <a:latin typeface="Calibri" pitchFamily="34" charset="0"/>
                <a:ea typeface="Calibri" pitchFamily="34" charset="-122"/>
                <a:cs typeface="Calibri" pitchFamily="34" charset="-120"/>
              </a:rPr>
              <a:t>Pending requests</a:t>
            </a:r>
            <a:endParaRPr lang="en-US" sz="1300" dirty="0"/>
          </a:p>
          <a:p>
            <a:pPr algn="ctr" indent="0" marL="0">
              <a:spcAft>
                <a:spcPts val="600"/>
              </a:spcAft>
              <a:buNone/>
            </a:pPr>
            <a:r>
              <a:rPr lang="en-US" sz="1300" dirty="0">
                <a:solidFill>
                  <a:srgbClr val="1F2937"/>
                </a:solidFill>
                <a:latin typeface="Calibri" pitchFamily="34" charset="0"/>
                <a:ea typeface="Calibri" pitchFamily="34" charset="-122"/>
                <a:cs typeface="Calibri" pitchFamily="34" charset="-120"/>
              </a:rPr>
              <a:t>READ file1</a:t>
            </a:r>
            <a:endParaRPr lang="en-US" sz="1300" dirty="0"/>
          </a:p>
          <a:p>
            <a:pPr algn="ctr" indent="0" marL="0">
              <a:spcAft>
                <a:spcPts val="600"/>
              </a:spcAft>
              <a:buNone/>
            </a:pPr>
            <a:r>
              <a:rPr lang="en-US" sz="1300" dirty="0">
                <a:solidFill>
                  <a:srgbClr val="1F2937"/>
                </a:solidFill>
                <a:latin typeface="Calibri" pitchFamily="34" charset="0"/>
                <a:ea typeface="Calibri" pitchFamily="34" charset="-122"/>
                <a:cs typeface="Calibri" pitchFamily="34" charset="-120"/>
              </a:rPr>
              <a:t>WRITE file2</a:t>
            </a:r>
            <a:endParaRPr lang="en-US" sz="1300" dirty="0"/>
          </a:p>
          <a:p>
            <a:pPr algn="ctr" indent="0" marL="0">
              <a:spcAft>
                <a:spcPts val="600"/>
              </a:spcAft>
              <a:buNone/>
            </a:pPr>
            <a:r>
              <a:rPr lang="en-US" sz="1300" dirty="0">
                <a:solidFill>
                  <a:srgbClr val="1F2937"/>
                </a:solidFill>
                <a:latin typeface="Calibri" pitchFamily="34" charset="0"/>
                <a:ea typeface="Calibri" pitchFamily="34" charset="-122"/>
                <a:cs typeface="Calibri" pitchFamily="34" charset="-120"/>
              </a:rPr>
              <a:t>READ file3</a:t>
            </a:r>
            <a:endParaRPr lang="en-US" sz="1300" dirty="0"/>
          </a:p>
        </p:txBody>
      </p:sp>
      <p:sp>
        <p:nvSpPr>
          <p:cNvPr id="17" name="Shape 15"/>
          <p:cNvSpPr/>
          <p:nvPr/>
        </p:nvSpPr>
        <p:spPr>
          <a:xfrm>
            <a:off x="7083857" y="2743200"/>
            <a:ext cx="365760" cy="320040"/>
          </a:xfrm>
          <a:prstGeom prst="rightArrow">
            <a:avLst/>
          </a:prstGeom>
          <a:solidFill>
            <a:srgbClr val="1F4E79"/>
          </a:solidFill>
          <a:ln w="12700">
            <a:solidFill>
              <a:srgbClr val="1F4E79"/>
            </a:solidFill>
            <a:prstDash val="solid"/>
          </a:ln>
        </p:spPr>
      </p:sp>
      <p:sp>
        <p:nvSpPr>
          <p:cNvPr id="18" name="Shape 16"/>
          <p:cNvSpPr/>
          <p:nvPr/>
        </p:nvSpPr>
        <p:spPr>
          <a:xfrm>
            <a:off x="7513625" y="1463040"/>
            <a:ext cx="1828800" cy="2834640"/>
          </a:xfrm>
          <a:prstGeom prst="roundRect">
            <a:avLst>
              <a:gd name="adj" fmla="val 6000"/>
            </a:avLst>
          </a:prstGeom>
          <a:solidFill>
            <a:srgbClr val="FBF3E7"/>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7605065" y="1645920"/>
            <a:ext cx="1645920" cy="502920"/>
          </a:xfrm>
          <a:prstGeom prst="rect">
            <a:avLst/>
          </a:prstGeom>
          <a:noFill/>
          <a:ln/>
        </p:spPr>
        <p:txBody>
          <a:bodyPr wrap="square" lIns="0" tIns="0" rIns="0" bIns="0" rtlCol="0" anchor="ctr"/>
          <a:lstStyle/>
          <a:p>
            <a:pPr algn="ctr" indent="0" marL="0">
              <a:buNone/>
            </a:pPr>
            <a:r>
              <a:rPr lang="en-US" sz="1500" b="1" dirty="0">
                <a:solidFill>
                  <a:srgbClr val="C97A22"/>
                </a:solidFill>
                <a:latin typeface="Calibri" pitchFamily="34" charset="0"/>
                <a:ea typeface="Calibri" pitchFamily="34" charset="-122"/>
                <a:cs typeface="Calibri" pitchFamily="34" charset="-120"/>
              </a:rPr>
              <a:t>WORKERS</a:t>
            </a:r>
            <a:endParaRPr lang="en-US" sz="1500" dirty="0"/>
          </a:p>
        </p:txBody>
      </p:sp>
      <p:sp>
        <p:nvSpPr>
          <p:cNvPr id="20" name="Text 18"/>
          <p:cNvSpPr txBox="1"/>
          <p:nvPr/>
        </p:nvSpPr>
        <p:spPr>
          <a:xfrm>
            <a:off x="7605065" y="2286000"/>
            <a:ext cx="1645920" cy="1828800"/>
          </a:xfrm>
          <a:prstGeom prst="rect">
            <a:avLst/>
          </a:prstGeom>
          <a:noFill/>
          <a:ln/>
        </p:spPr>
        <p:txBody>
          <a:bodyPr wrap="square" lIns="0" tIns="0" rIns="0" bIns="0" rtlCol="0" anchor="t"/>
          <a:lstStyle/>
          <a:p>
            <a:pPr algn="ctr" indent="0" marL="0">
              <a:spcAft>
                <a:spcPts val="600"/>
              </a:spcAft>
              <a:buNone/>
            </a:pPr>
            <a:r>
              <a:rPr lang="en-US" sz="1300" dirty="0">
                <a:solidFill>
                  <a:srgbClr val="1F2937"/>
                </a:solidFill>
                <a:latin typeface="Calibri" pitchFamily="34" charset="0"/>
                <a:ea typeface="Calibri" pitchFamily="34" charset="-122"/>
                <a:cs typeface="Calibri" pitchFamily="34" charset="-120"/>
              </a:rPr>
              <a:t>Worker 1</a:t>
            </a:r>
            <a:endParaRPr lang="en-US" sz="1300" dirty="0"/>
          </a:p>
          <a:p>
            <a:pPr algn="ctr" indent="0" marL="0">
              <a:spcAft>
                <a:spcPts val="600"/>
              </a:spcAft>
              <a:buNone/>
            </a:pPr>
            <a:r>
              <a:rPr lang="en-US" sz="1300" dirty="0">
                <a:solidFill>
                  <a:srgbClr val="1F2937"/>
                </a:solidFill>
                <a:latin typeface="Calibri" pitchFamily="34" charset="0"/>
                <a:ea typeface="Calibri" pitchFamily="34" charset="-122"/>
                <a:cs typeface="Calibri" pitchFamily="34" charset="-120"/>
              </a:rPr>
              <a:t>Worker 2</a:t>
            </a:r>
            <a:endParaRPr lang="en-US" sz="1300" dirty="0"/>
          </a:p>
          <a:p>
            <a:pPr algn="ctr" indent="0" marL="0">
              <a:spcAft>
                <a:spcPts val="600"/>
              </a:spcAft>
              <a:buNone/>
            </a:pPr>
            <a:r>
              <a:rPr lang="en-US" sz="1300" dirty="0">
                <a:solidFill>
                  <a:srgbClr val="1F2937"/>
                </a:solidFill>
                <a:latin typeface="Calibri" pitchFamily="34" charset="0"/>
                <a:ea typeface="Calibri" pitchFamily="34" charset="-122"/>
                <a:cs typeface="Calibri" pitchFamily="34" charset="-120"/>
              </a:rPr>
              <a:t>Worker 3</a:t>
            </a:r>
            <a:endParaRPr lang="en-US" sz="1300" dirty="0"/>
          </a:p>
          <a:p>
            <a:pPr algn="ctr" indent="0" marL="0">
              <a:spcAft>
                <a:spcPts val="600"/>
              </a:spcAft>
              <a:buNone/>
            </a:pPr>
            <a:r>
              <a:rPr lang="en-US" sz="1300" dirty="0">
                <a:solidFill>
                  <a:srgbClr val="1F2937"/>
                </a:solidFill>
                <a:latin typeface="Calibri" pitchFamily="34" charset="0"/>
                <a:ea typeface="Calibri" pitchFamily="34" charset="-122"/>
                <a:cs typeface="Calibri" pitchFamily="34" charset="-120"/>
              </a:rPr>
              <a:t>File processing</a:t>
            </a:r>
            <a:endParaRPr lang="en-US" sz="1300" dirty="0"/>
          </a:p>
        </p:txBody>
      </p:sp>
      <p:sp>
        <p:nvSpPr>
          <p:cNvPr id="21" name="Shape 19"/>
          <p:cNvSpPr/>
          <p:nvPr/>
        </p:nvSpPr>
        <p:spPr>
          <a:xfrm>
            <a:off x="9415577" y="2743200"/>
            <a:ext cx="365760" cy="320040"/>
          </a:xfrm>
          <a:prstGeom prst="rightArrow">
            <a:avLst/>
          </a:prstGeom>
          <a:solidFill>
            <a:srgbClr val="1F4E79"/>
          </a:solidFill>
          <a:ln w="12700">
            <a:solidFill>
              <a:srgbClr val="1F4E79"/>
            </a:solidFill>
            <a:prstDash val="solid"/>
          </a:ln>
        </p:spPr>
      </p:sp>
      <p:sp>
        <p:nvSpPr>
          <p:cNvPr id="22" name="Shape 20"/>
          <p:cNvSpPr/>
          <p:nvPr/>
        </p:nvSpPr>
        <p:spPr>
          <a:xfrm>
            <a:off x="9845345" y="1463040"/>
            <a:ext cx="1828800" cy="2834640"/>
          </a:xfrm>
          <a:prstGeom prst="roundRect">
            <a:avLst>
              <a:gd name="adj" fmla="val 6000"/>
            </a:avLst>
          </a:prstGeom>
          <a:solidFill>
            <a:srgbClr val="E9F6F3"/>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23" name="Text 21"/>
          <p:cNvSpPr txBox="1"/>
          <p:nvPr/>
        </p:nvSpPr>
        <p:spPr>
          <a:xfrm>
            <a:off x="9936785" y="1645920"/>
            <a:ext cx="1645920" cy="502920"/>
          </a:xfrm>
          <a:prstGeom prst="rect">
            <a:avLst/>
          </a:prstGeom>
          <a:noFill/>
          <a:ln/>
        </p:spPr>
        <p:txBody>
          <a:bodyPr wrap="square" lIns="0" tIns="0" rIns="0" bIns="0" rtlCol="0" anchor="ctr"/>
          <a:lstStyle/>
          <a:p>
            <a:pPr algn="ctr" indent="0" marL="0">
              <a:buNone/>
            </a:pPr>
            <a:r>
              <a:rPr lang="en-US" sz="1500" b="1" dirty="0">
                <a:solidFill>
                  <a:srgbClr val="2E8B57"/>
                </a:solidFill>
                <a:latin typeface="Calibri" pitchFamily="34" charset="0"/>
                <a:ea typeface="Calibri" pitchFamily="34" charset="-122"/>
                <a:cs typeface="Calibri" pitchFamily="34" charset="-120"/>
              </a:rPr>
              <a:t>COMPLETION QUEUE</a:t>
            </a:r>
            <a:endParaRPr lang="en-US" sz="1500" dirty="0"/>
          </a:p>
        </p:txBody>
      </p:sp>
      <p:sp>
        <p:nvSpPr>
          <p:cNvPr id="24" name="Text 22"/>
          <p:cNvSpPr txBox="1"/>
          <p:nvPr/>
        </p:nvSpPr>
        <p:spPr>
          <a:xfrm>
            <a:off x="9936785" y="2286000"/>
            <a:ext cx="1645920" cy="1828800"/>
          </a:xfrm>
          <a:prstGeom prst="rect">
            <a:avLst/>
          </a:prstGeom>
          <a:noFill/>
          <a:ln/>
        </p:spPr>
        <p:txBody>
          <a:bodyPr wrap="square" lIns="0" tIns="0" rIns="0" bIns="0" rtlCol="0" anchor="t"/>
          <a:lstStyle/>
          <a:p>
            <a:pPr algn="ctr" indent="0" marL="0">
              <a:spcAft>
                <a:spcPts val="600"/>
              </a:spcAft>
              <a:buNone/>
            </a:pPr>
            <a:r>
              <a:rPr lang="en-US" sz="1300" dirty="0">
                <a:solidFill>
                  <a:srgbClr val="1F2937"/>
                </a:solidFill>
                <a:latin typeface="Calibri" pitchFamily="34" charset="0"/>
                <a:ea typeface="Calibri" pitchFamily="34" charset="-122"/>
                <a:cs typeface="Calibri" pitchFamily="34" charset="-120"/>
              </a:rPr>
              <a:t>Finished requests</a:t>
            </a:r>
            <a:endParaRPr lang="en-US" sz="1300" dirty="0"/>
          </a:p>
          <a:p>
            <a:pPr algn="ctr" indent="0" marL="0">
              <a:spcAft>
                <a:spcPts val="600"/>
              </a:spcAft>
              <a:buNone/>
            </a:pPr>
            <a:r>
              <a:rPr lang="en-US" sz="1300" dirty="0">
                <a:solidFill>
                  <a:srgbClr val="1F2937"/>
                </a:solidFill>
                <a:latin typeface="Calibri" pitchFamily="34" charset="0"/>
                <a:ea typeface="Calibri" pitchFamily="34" charset="-122"/>
                <a:cs typeface="Calibri" pitchFamily="34" charset="-120"/>
              </a:rPr>
              <a:t>Results ready</a:t>
            </a:r>
            <a:endParaRPr lang="en-US" sz="1300" dirty="0"/>
          </a:p>
        </p:txBody>
      </p:sp>
      <p:sp>
        <p:nvSpPr>
          <p:cNvPr id="25" name="Shape 23"/>
          <p:cNvSpPr/>
          <p:nvPr/>
        </p:nvSpPr>
        <p:spPr>
          <a:xfrm>
            <a:off x="518465" y="4663440"/>
            <a:ext cx="11155680" cy="822960"/>
          </a:xfrm>
          <a:prstGeom prst="leftArrow">
            <a:avLst/>
          </a:prstGeom>
          <a:solidFill>
            <a:srgbClr val="2E8B57"/>
          </a:solidFill>
          <a:ln w="12700">
            <a:solidFill>
              <a:srgbClr val="2E8B57"/>
            </a:solidFill>
            <a:prstDash val="solid"/>
          </a:ln>
          <a:effectLst>
            <a:outerShdw sx="100000" sy="100000" kx="0" ky="0" algn="bl" rotWithShape="0" blurRad="76200" dist="25400" dir="5400000">
              <a:srgbClr val="000000">
                <a:alpha val="12000"/>
              </a:srgbClr>
            </a:outerShdw>
          </a:effectLst>
        </p:spPr>
      </p:sp>
      <p:sp>
        <p:nvSpPr>
          <p:cNvPr id="26" name="Text 24"/>
          <p:cNvSpPr txBox="1"/>
          <p:nvPr/>
        </p:nvSpPr>
        <p:spPr>
          <a:xfrm>
            <a:off x="1280160" y="4663440"/>
            <a:ext cx="9601200" cy="8229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Completed result is returned to the appropriate client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594360"/>
          </a:xfrm>
          <a:prstGeom prst="rect">
            <a:avLst/>
          </a:prstGeom>
          <a:noFill/>
          <a:ln/>
        </p:spPr>
        <p:txBody>
          <a:bodyPr wrap="square" lIns="0" tIns="0" rIns="0" bIns="0" rtlCol="0" anchor="ctr"/>
          <a:lstStyle/>
          <a:p>
            <a:pPr algn="ctr" indent="0" marL="0">
              <a:buNone/>
            </a:pPr>
            <a:r>
              <a:rPr lang="en-US" sz="3200" b="1" dirty="0">
                <a:solidFill>
                  <a:srgbClr val="1F2937"/>
                </a:solidFill>
                <a:latin typeface="Calibri" pitchFamily="34" charset="0"/>
                <a:ea typeface="Calibri" pitchFamily="34" charset="-122"/>
                <a:cs typeface="Calibri" pitchFamily="34" charset="-120"/>
              </a:rPr>
              <a:t>Request Processing Flow</a:t>
            </a:r>
            <a:endParaRPr lang="en-US" sz="3200" dirty="0"/>
          </a:p>
        </p:txBody>
      </p:sp>
      <p:sp>
        <p:nvSpPr>
          <p:cNvPr id="3" name="Text 1"/>
          <p:cNvSpPr txBox="1"/>
          <p:nvPr/>
        </p:nvSpPr>
        <p:spPr>
          <a:xfrm>
            <a:off x="548640" y="868680"/>
            <a:ext cx="11091672" cy="320040"/>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Step-by-step lifecycle of one request</a:t>
            </a:r>
            <a:endParaRPr lang="en-US" sz="14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OSSP • Team 20</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585216" y="1463040"/>
            <a:ext cx="1645920" cy="2651760"/>
          </a:xfrm>
          <a:prstGeom prst="roundRect">
            <a:avLst>
              <a:gd name="adj" fmla="val 6667"/>
            </a:avLst>
          </a:prstGeom>
          <a:solidFill>
            <a:srgbClr val="EAF2F8"/>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1133856" y="1691640"/>
            <a:ext cx="548640" cy="548640"/>
          </a:xfrm>
          <a:prstGeom prst="ellipse">
            <a:avLst/>
          </a:prstGeom>
          <a:solidFill>
            <a:srgbClr val="2F75B5"/>
          </a:solidFill>
          <a:ln w="12700">
            <a:solidFill>
              <a:srgbClr val="2F75B5"/>
            </a:solidFill>
            <a:prstDash val="solid"/>
          </a:ln>
        </p:spPr>
      </p:sp>
      <p:sp>
        <p:nvSpPr>
          <p:cNvPr id="8" name="Text 6"/>
          <p:cNvSpPr txBox="1"/>
          <p:nvPr/>
        </p:nvSpPr>
        <p:spPr>
          <a:xfrm>
            <a:off x="1133856"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txBox="1"/>
          <p:nvPr/>
        </p:nvSpPr>
        <p:spPr>
          <a:xfrm>
            <a:off x="676656" y="2423160"/>
            <a:ext cx="1463040" cy="548640"/>
          </a:xfrm>
          <a:prstGeom prst="rect">
            <a:avLst/>
          </a:prstGeom>
          <a:noFill/>
          <a:ln/>
        </p:spPr>
        <p:txBody>
          <a:bodyPr wrap="square" lIns="0" tIns="0" rIns="0" bIns="0" rtlCol="0" anchor="t"/>
          <a:lstStyle/>
          <a:p>
            <a:pPr algn="ctr" indent="0" marL="0">
              <a:buNone/>
            </a:pPr>
            <a:r>
              <a:rPr lang="en-US" sz="1400" b="1" dirty="0">
                <a:solidFill>
                  <a:srgbClr val="2F75B5"/>
                </a:solidFill>
                <a:latin typeface="Calibri" pitchFamily="34" charset="0"/>
                <a:ea typeface="Calibri" pitchFamily="34" charset="-122"/>
                <a:cs typeface="Calibri" pitchFamily="34" charset="-120"/>
              </a:rPr>
              <a:t>Client sends</a:t>
            </a:r>
            <a:endParaRPr lang="en-US" sz="1400" dirty="0"/>
          </a:p>
        </p:txBody>
      </p:sp>
      <p:sp>
        <p:nvSpPr>
          <p:cNvPr id="10" name="Text 8"/>
          <p:cNvSpPr txBox="1"/>
          <p:nvPr/>
        </p:nvSpPr>
        <p:spPr>
          <a:xfrm>
            <a:off x="676656" y="3017520"/>
            <a:ext cx="1463040" cy="914400"/>
          </a:xfrm>
          <a:prstGeom prst="rect">
            <a:avLst/>
          </a:prstGeom>
          <a:noFill/>
          <a:ln/>
        </p:spPr>
        <p:txBody>
          <a:bodyPr wrap="square" lIns="0" tIns="0" rIns="0" bIns="0" rtlCol="0" anchor="t"/>
          <a:lstStyle/>
          <a:p>
            <a:pPr algn="ctr" indent="0" marL="0">
              <a:buNone/>
            </a:pPr>
            <a:r>
              <a:rPr lang="en-US" sz="1300" dirty="0">
                <a:solidFill>
                  <a:srgbClr val="1F2937"/>
                </a:solidFill>
                <a:latin typeface="Calibri" pitchFamily="34" charset="0"/>
                <a:ea typeface="Calibri" pitchFamily="34" charset="-122"/>
                <a:cs typeface="Calibri" pitchFamily="34" charset="-120"/>
              </a:rPr>
              <a:t>READ / WRITE request</a:t>
            </a:r>
            <a:endParaRPr lang="en-US" sz="1300" dirty="0"/>
          </a:p>
        </p:txBody>
      </p:sp>
      <p:sp>
        <p:nvSpPr>
          <p:cNvPr id="11" name="Shape 9"/>
          <p:cNvSpPr/>
          <p:nvPr/>
        </p:nvSpPr>
        <p:spPr>
          <a:xfrm>
            <a:off x="2267712" y="2651760"/>
            <a:ext cx="155448" cy="228600"/>
          </a:xfrm>
          <a:prstGeom prst="rightArrow">
            <a:avLst/>
          </a:prstGeom>
          <a:solidFill>
            <a:srgbClr val="1F4E79"/>
          </a:solidFill>
          <a:ln w="12700">
            <a:solidFill>
              <a:srgbClr val="1F4E79"/>
            </a:solidFill>
            <a:prstDash val="solid"/>
          </a:ln>
        </p:spPr>
      </p:sp>
      <p:sp>
        <p:nvSpPr>
          <p:cNvPr id="12" name="Shape 10"/>
          <p:cNvSpPr/>
          <p:nvPr/>
        </p:nvSpPr>
        <p:spPr>
          <a:xfrm>
            <a:off x="2459736" y="1463040"/>
            <a:ext cx="1645920" cy="2651760"/>
          </a:xfrm>
          <a:prstGeom prst="roundRect">
            <a:avLst>
              <a:gd name="adj" fmla="val 6667"/>
            </a:avLst>
          </a:prstGeom>
          <a:solidFill>
            <a:srgbClr val="E9F6F3"/>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3" name="Shape 11"/>
          <p:cNvSpPr/>
          <p:nvPr/>
        </p:nvSpPr>
        <p:spPr>
          <a:xfrm>
            <a:off x="3008376" y="1691640"/>
            <a:ext cx="548640" cy="548640"/>
          </a:xfrm>
          <a:prstGeom prst="ellipse">
            <a:avLst/>
          </a:prstGeom>
          <a:solidFill>
            <a:srgbClr val="0F766E"/>
          </a:solidFill>
          <a:ln w="12700">
            <a:solidFill>
              <a:srgbClr val="0F766E"/>
            </a:solidFill>
            <a:prstDash val="solid"/>
          </a:ln>
        </p:spPr>
      </p:sp>
      <p:sp>
        <p:nvSpPr>
          <p:cNvPr id="14" name="Text 12"/>
          <p:cNvSpPr txBox="1"/>
          <p:nvPr/>
        </p:nvSpPr>
        <p:spPr>
          <a:xfrm>
            <a:off x="3008376"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3"/>
          <p:cNvSpPr txBox="1"/>
          <p:nvPr/>
        </p:nvSpPr>
        <p:spPr>
          <a:xfrm>
            <a:off x="2551176" y="2423160"/>
            <a:ext cx="1463040" cy="548640"/>
          </a:xfrm>
          <a:prstGeom prst="rect">
            <a:avLst/>
          </a:prstGeom>
          <a:noFill/>
          <a:ln/>
        </p:spPr>
        <p:txBody>
          <a:bodyPr wrap="square" lIns="0" tIns="0" rIns="0" bIns="0" rtlCol="0" anchor="t"/>
          <a:lstStyle/>
          <a:p>
            <a:pPr algn="ctr" indent="0" marL="0">
              <a:buNone/>
            </a:pPr>
            <a:r>
              <a:rPr lang="en-US" sz="1400" b="1" dirty="0">
                <a:solidFill>
                  <a:srgbClr val="0F766E"/>
                </a:solidFill>
                <a:latin typeface="Calibri" pitchFamily="34" charset="0"/>
                <a:ea typeface="Calibri" pitchFamily="34" charset="-122"/>
                <a:cs typeface="Calibri" pitchFamily="34" charset="-120"/>
              </a:rPr>
              <a:t>Server receives</a:t>
            </a:r>
            <a:endParaRPr lang="en-US" sz="1400" dirty="0"/>
          </a:p>
        </p:txBody>
      </p:sp>
      <p:sp>
        <p:nvSpPr>
          <p:cNvPr id="16" name="Text 14"/>
          <p:cNvSpPr txBox="1"/>
          <p:nvPr/>
        </p:nvSpPr>
        <p:spPr>
          <a:xfrm>
            <a:off x="2551176" y="3017520"/>
            <a:ext cx="1463040" cy="914400"/>
          </a:xfrm>
          <a:prstGeom prst="rect">
            <a:avLst/>
          </a:prstGeom>
          <a:noFill/>
          <a:ln/>
        </p:spPr>
        <p:txBody>
          <a:bodyPr wrap="square" lIns="0" tIns="0" rIns="0" bIns="0" rtlCol="0" anchor="t"/>
          <a:lstStyle/>
          <a:p>
            <a:pPr algn="ctr" indent="0" marL="0">
              <a:buNone/>
            </a:pPr>
            <a:r>
              <a:rPr lang="en-US" sz="1300" dirty="0">
                <a:solidFill>
                  <a:srgbClr val="1F2937"/>
                </a:solidFill>
                <a:latin typeface="Calibri" pitchFamily="34" charset="0"/>
                <a:ea typeface="Calibri" pitchFamily="34" charset="-122"/>
                <a:cs typeface="Calibri" pitchFamily="34" charset="-120"/>
              </a:rPr>
              <a:t>Accepts and receives the request</a:t>
            </a:r>
            <a:endParaRPr lang="en-US" sz="1300" dirty="0"/>
          </a:p>
        </p:txBody>
      </p:sp>
      <p:sp>
        <p:nvSpPr>
          <p:cNvPr id="17" name="Shape 15"/>
          <p:cNvSpPr/>
          <p:nvPr/>
        </p:nvSpPr>
        <p:spPr>
          <a:xfrm>
            <a:off x="4142232" y="2651760"/>
            <a:ext cx="155448" cy="228600"/>
          </a:xfrm>
          <a:prstGeom prst="rightArrow">
            <a:avLst/>
          </a:prstGeom>
          <a:solidFill>
            <a:srgbClr val="1F4E79"/>
          </a:solidFill>
          <a:ln w="12700">
            <a:solidFill>
              <a:srgbClr val="1F4E79"/>
            </a:solidFill>
            <a:prstDash val="solid"/>
          </a:ln>
        </p:spPr>
      </p:sp>
      <p:sp>
        <p:nvSpPr>
          <p:cNvPr id="18" name="Shape 16"/>
          <p:cNvSpPr/>
          <p:nvPr/>
        </p:nvSpPr>
        <p:spPr>
          <a:xfrm>
            <a:off x="4334256" y="1463040"/>
            <a:ext cx="1645920" cy="2651760"/>
          </a:xfrm>
          <a:prstGeom prst="roundRect">
            <a:avLst>
              <a:gd name="adj" fmla="val 6667"/>
            </a:avLst>
          </a:prstGeom>
          <a:solidFill>
            <a:srgbClr val="F1ECF8"/>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9" name="Shape 17"/>
          <p:cNvSpPr/>
          <p:nvPr/>
        </p:nvSpPr>
        <p:spPr>
          <a:xfrm>
            <a:off x="4882896" y="1691640"/>
            <a:ext cx="548640" cy="548640"/>
          </a:xfrm>
          <a:prstGeom prst="ellipse">
            <a:avLst/>
          </a:prstGeom>
          <a:solidFill>
            <a:srgbClr val="6B4FA1"/>
          </a:solidFill>
          <a:ln w="12700">
            <a:solidFill>
              <a:srgbClr val="6B4FA1"/>
            </a:solidFill>
            <a:prstDash val="solid"/>
          </a:ln>
        </p:spPr>
      </p:sp>
      <p:sp>
        <p:nvSpPr>
          <p:cNvPr id="20" name="Text 18"/>
          <p:cNvSpPr txBox="1"/>
          <p:nvPr/>
        </p:nvSpPr>
        <p:spPr>
          <a:xfrm>
            <a:off x="4882896"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Text 19"/>
          <p:cNvSpPr txBox="1"/>
          <p:nvPr/>
        </p:nvSpPr>
        <p:spPr>
          <a:xfrm>
            <a:off x="4425696" y="2423160"/>
            <a:ext cx="1463040" cy="548640"/>
          </a:xfrm>
          <a:prstGeom prst="rect">
            <a:avLst/>
          </a:prstGeom>
          <a:noFill/>
          <a:ln/>
        </p:spPr>
        <p:txBody>
          <a:bodyPr wrap="square" lIns="0" tIns="0" rIns="0" bIns="0" rtlCol="0" anchor="t"/>
          <a:lstStyle/>
          <a:p>
            <a:pPr algn="ctr" indent="0" marL="0">
              <a:buNone/>
            </a:pPr>
            <a:r>
              <a:rPr lang="en-US" sz="1400" b="1" dirty="0">
                <a:solidFill>
                  <a:srgbClr val="6B4FA1"/>
                </a:solidFill>
                <a:latin typeface="Calibri" pitchFamily="34" charset="0"/>
                <a:ea typeface="Calibri" pitchFamily="34" charset="-122"/>
                <a:cs typeface="Calibri" pitchFamily="34" charset="-120"/>
              </a:rPr>
              <a:t>Request queue</a:t>
            </a:r>
            <a:endParaRPr lang="en-US" sz="1400" dirty="0"/>
          </a:p>
        </p:txBody>
      </p:sp>
      <p:sp>
        <p:nvSpPr>
          <p:cNvPr id="22" name="Text 20"/>
          <p:cNvSpPr txBox="1"/>
          <p:nvPr/>
        </p:nvSpPr>
        <p:spPr>
          <a:xfrm>
            <a:off x="4425696" y="3017520"/>
            <a:ext cx="1463040" cy="914400"/>
          </a:xfrm>
          <a:prstGeom prst="rect">
            <a:avLst/>
          </a:prstGeom>
          <a:noFill/>
          <a:ln/>
        </p:spPr>
        <p:txBody>
          <a:bodyPr wrap="square" lIns="0" tIns="0" rIns="0" bIns="0" rtlCol="0" anchor="t"/>
          <a:lstStyle/>
          <a:p>
            <a:pPr algn="ctr" indent="0" marL="0">
              <a:buNone/>
            </a:pPr>
            <a:r>
              <a:rPr lang="en-US" sz="1300" dirty="0">
                <a:solidFill>
                  <a:srgbClr val="1F2937"/>
                </a:solidFill>
                <a:latin typeface="Calibri" pitchFamily="34" charset="0"/>
                <a:ea typeface="Calibri" pitchFamily="34" charset="-122"/>
                <a:cs typeface="Calibri" pitchFamily="34" charset="-120"/>
              </a:rPr>
              <a:t>Request waits as pending</a:t>
            </a:r>
            <a:endParaRPr lang="en-US" sz="1300" dirty="0"/>
          </a:p>
        </p:txBody>
      </p:sp>
      <p:sp>
        <p:nvSpPr>
          <p:cNvPr id="23" name="Shape 21"/>
          <p:cNvSpPr/>
          <p:nvPr/>
        </p:nvSpPr>
        <p:spPr>
          <a:xfrm>
            <a:off x="6016752" y="2651760"/>
            <a:ext cx="155448" cy="228600"/>
          </a:xfrm>
          <a:prstGeom prst="rightArrow">
            <a:avLst/>
          </a:prstGeom>
          <a:solidFill>
            <a:srgbClr val="1F4E79"/>
          </a:solidFill>
          <a:ln w="12700">
            <a:solidFill>
              <a:srgbClr val="1F4E79"/>
            </a:solidFill>
            <a:prstDash val="solid"/>
          </a:ln>
        </p:spPr>
      </p:sp>
      <p:sp>
        <p:nvSpPr>
          <p:cNvPr id="24" name="Shape 22"/>
          <p:cNvSpPr/>
          <p:nvPr/>
        </p:nvSpPr>
        <p:spPr>
          <a:xfrm>
            <a:off x="6208776" y="1463040"/>
            <a:ext cx="1645920" cy="2651760"/>
          </a:xfrm>
          <a:prstGeom prst="roundRect">
            <a:avLst>
              <a:gd name="adj" fmla="val 6667"/>
            </a:avLst>
          </a:prstGeom>
          <a:solidFill>
            <a:srgbClr val="FBF3E7"/>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25" name="Shape 23"/>
          <p:cNvSpPr/>
          <p:nvPr/>
        </p:nvSpPr>
        <p:spPr>
          <a:xfrm>
            <a:off x="6757416" y="1691640"/>
            <a:ext cx="548640" cy="548640"/>
          </a:xfrm>
          <a:prstGeom prst="ellipse">
            <a:avLst/>
          </a:prstGeom>
          <a:solidFill>
            <a:srgbClr val="C97A22"/>
          </a:solidFill>
          <a:ln w="12700">
            <a:solidFill>
              <a:srgbClr val="C97A22"/>
            </a:solidFill>
            <a:prstDash val="solid"/>
          </a:ln>
        </p:spPr>
      </p:sp>
      <p:sp>
        <p:nvSpPr>
          <p:cNvPr id="26" name="Text 24"/>
          <p:cNvSpPr txBox="1"/>
          <p:nvPr/>
        </p:nvSpPr>
        <p:spPr>
          <a:xfrm>
            <a:off x="6757416"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7" name="Text 25"/>
          <p:cNvSpPr txBox="1"/>
          <p:nvPr/>
        </p:nvSpPr>
        <p:spPr>
          <a:xfrm>
            <a:off x="6300216" y="2423160"/>
            <a:ext cx="1463040" cy="548640"/>
          </a:xfrm>
          <a:prstGeom prst="rect">
            <a:avLst/>
          </a:prstGeom>
          <a:noFill/>
          <a:ln/>
        </p:spPr>
        <p:txBody>
          <a:bodyPr wrap="square" lIns="0" tIns="0" rIns="0" bIns="0" rtlCol="0" anchor="t"/>
          <a:lstStyle/>
          <a:p>
            <a:pPr algn="ctr" indent="0" marL="0">
              <a:buNone/>
            </a:pPr>
            <a:r>
              <a:rPr lang="en-US" sz="1400" b="1" dirty="0">
                <a:solidFill>
                  <a:srgbClr val="C97A22"/>
                </a:solidFill>
                <a:latin typeface="Calibri" pitchFamily="34" charset="0"/>
                <a:ea typeface="Calibri" pitchFamily="34" charset="-122"/>
                <a:cs typeface="Calibri" pitchFamily="34" charset="-120"/>
              </a:rPr>
              <a:t>Async processing</a:t>
            </a:r>
            <a:endParaRPr lang="en-US" sz="1400" dirty="0"/>
          </a:p>
        </p:txBody>
      </p:sp>
      <p:sp>
        <p:nvSpPr>
          <p:cNvPr id="28" name="Text 26"/>
          <p:cNvSpPr txBox="1"/>
          <p:nvPr/>
        </p:nvSpPr>
        <p:spPr>
          <a:xfrm>
            <a:off x="6300216" y="3017520"/>
            <a:ext cx="1463040" cy="914400"/>
          </a:xfrm>
          <a:prstGeom prst="rect">
            <a:avLst/>
          </a:prstGeom>
          <a:noFill/>
          <a:ln/>
        </p:spPr>
        <p:txBody>
          <a:bodyPr wrap="square" lIns="0" tIns="0" rIns="0" bIns="0" rtlCol="0" anchor="t"/>
          <a:lstStyle/>
          <a:p>
            <a:pPr algn="ctr" indent="0" marL="0">
              <a:buNone/>
            </a:pPr>
            <a:r>
              <a:rPr lang="en-US" sz="1300" dirty="0">
                <a:solidFill>
                  <a:srgbClr val="1F2937"/>
                </a:solidFill>
                <a:latin typeface="Calibri" pitchFamily="34" charset="0"/>
                <a:ea typeface="Calibri" pitchFamily="34" charset="-122"/>
                <a:cs typeface="Calibri" pitchFamily="34" charset="-120"/>
              </a:rPr>
              <a:t>Worker performs the file operation</a:t>
            </a:r>
            <a:endParaRPr lang="en-US" sz="1300" dirty="0"/>
          </a:p>
        </p:txBody>
      </p:sp>
      <p:sp>
        <p:nvSpPr>
          <p:cNvPr id="29" name="Shape 27"/>
          <p:cNvSpPr/>
          <p:nvPr/>
        </p:nvSpPr>
        <p:spPr>
          <a:xfrm>
            <a:off x="7891272" y="2651760"/>
            <a:ext cx="155448" cy="228600"/>
          </a:xfrm>
          <a:prstGeom prst="rightArrow">
            <a:avLst/>
          </a:prstGeom>
          <a:solidFill>
            <a:srgbClr val="1F4E79"/>
          </a:solidFill>
          <a:ln w="12700">
            <a:solidFill>
              <a:srgbClr val="1F4E79"/>
            </a:solidFill>
            <a:prstDash val="solid"/>
          </a:ln>
        </p:spPr>
      </p:sp>
      <p:sp>
        <p:nvSpPr>
          <p:cNvPr id="30" name="Shape 28"/>
          <p:cNvSpPr/>
          <p:nvPr/>
        </p:nvSpPr>
        <p:spPr>
          <a:xfrm>
            <a:off x="8083296" y="1463040"/>
            <a:ext cx="1645920" cy="2651760"/>
          </a:xfrm>
          <a:prstGeom prst="roundRect">
            <a:avLst>
              <a:gd name="adj" fmla="val 6667"/>
            </a:avLst>
          </a:prstGeom>
          <a:solidFill>
            <a:srgbClr val="E9F6F3"/>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31" name="Shape 29"/>
          <p:cNvSpPr/>
          <p:nvPr/>
        </p:nvSpPr>
        <p:spPr>
          <a:xfrm>
            <a:off x="8631936" y="1691640"/>
            <a:ext cx="548640" cy="548640"/>
          </a:xfrm>
          <a:prstGeom prst="ellipse">
            <a:avLst/>
          </a:prstGeom>
          <a:solidFill>
            <a:srgbClr val="2E8B57"/>
          </a:solidFill>
          <a:ln w="12700">
            <a:solidFill>
              <a:srgbClr val="2E8B57"/>
            </a:solidFill>
            <a:prstDash val="solid"/>
          </a:ln>
        </p:spPr>
      </p:sp>
      <p:sp>
        <p:nvSpPr>
          <p:cNvPr id="32" name="Text 30"/>
          <p:cNvSpPr txBox="1"/>
          <p:nvPr/>
        </p:nvSpPr>
        <p:spPr>
          <a:xfrm>
            <a:off x="8631936"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3" name="Text 31"/>
          <p:cNvSpPr txBox="1"/>
          <p:nvPr/>
        </p:nvSpPr>
        <p:spPr>
          <a:xfrm>
            <a:off x="8174736" y="2423160"/>
            <a:ext cx="1463040" cy="548640"/>
          </a:xfrm>
          <a:prstGeom prst="rect">
            <a:avLst/>
          </a:prstGeom>
          <a:noFill/>
          <a:ln/>
        </p:spPr>
        <p:txBody>
          <a:bodyPr wrap="square" lIns="0" tIns="0" rIns="0" bIns="0" rtlCol="0" anchor="t"/>
          <a:lstStyle/>
          <a:p>
            <a:pPr algn="ctr" indent="0" marL="0">
              <a:buNone/>
            </a:pPr>
            <a:r>
              <a:rPr lang="en-US" sz="1400" b="1" dirty="0">
                <a:solidFill>
                  <a:srgbClr val="2E8B57"/>
                </a:solidFill>
                <a:latin typeface="Calibri" pitchFamily="34" charset="0"/>
                <a:ea typeface="Calibri" pitchFamily="34" charset="-122"/>
                <a:cs typeface="Calibri" pitchFamily="34" charset="-120"/>
              </a:rPr>
              <a:t>Completion queue</a:t>
            </a:r>
            <a:endParaRPr lang="en-US" sz="1400" dirty="0"/>
          </a:p>
        </p:txBody>
      </p:sp>
      <p:sp>
        <p:nvSpPr>
          <p:cNvPr id="34" name="Text 32"/>
          <p:cNvSpPr txBox="1"/>
          <p:nvPr/>
        </p:nvSpPr>
        <p:spPr>
          <a:xfrm>
            <a:off x="8174736" y="3017520"/>
            <a:ext cx="1463040" cy="914400"/>
          </a:xfrm>
          <a:prstGeom prst="rect">
            <a:avLst/>
          </a:prstGeom>
          <a:noFill/>
          <a:ln/>
        </p:spPr>
        <p:txBody>
          <a:bodyPr wrap="square" lIns="0" tIns="0" rIns="0" bIns="0" rtlCol="0" anchor="t"/>
          <a:lstStyle/>
          <a:p>
            <a:pPr algn="ctr" indent="0" marL="0">
              <a:buNone/>
            </a:pPr>
            <a:r>
              <a:rPr lang="en-US" sz="1300" dirty="0">
                <a:solidFill>
                  <a:srgbClr val="1F2937"/>
                </a:solidFill>
                <a:latin typeface="Calibri" pitchFamily="34" charset="0"/>
                <a:ea typeface="Calibri" pitchFamily="34" charset="-122"/>
                <a:cs typeface="Calibri" pitchFamily="34" charset="-120"/>
              </a:rPr>
              <a:t>Finished result is stored</a:t>
            </a:r>
            <a:endParaRPr lang="en-US" sz="1300" dirty="0"/>
          </a:p>
        </p:txBody>
      </p:sp>
      <p:sp>
        <p:nvSpPr>
          <p:cNvPr id="35" name="Shape 33"/>
          <p:cNvSpPr/>
          <p:nvPr/>
        </p:nvSpPr>
        <p:spPr>
          <a:xfrm>
            <a:off x="9765792" y="2651760"/>
            <a:ext cx="155448" cy="228600"/>
          </a:xfrm>
          <a:prstGeom prst="rightArrow">
            <a:avLst/>
          </a:prstGeom>
          <a:solidFill>
            <a:srgbClr val="1F4E79"/>
          </a:solidFill>
          <a:ln w="12700">
            <a:solidFill>
              <a:srgbClr val="1F4E79"/>
            </a:solidFill>
            <a:prstDash val="solid"/>
          </a:ln>
        </p:spPr>
      </p:sp>
      <p:sp>
        <p:nvSpPr>
          <p:cNvPr id="36" name="Shape 34"/>
          <p:cNvSpPr/>
          <p:nvPr/>
        </p:nvSpPr>
        <p:spPr>
          <a:xfrm>
            <a:off x="9957816" y="1463040"/>
            <a:ext cx="1645920" cy="2651760"/>
          </a:xfrm>
          <a:prstGeom prst="roundRect">
            <a:avLst>
              <a:gd name="adj" fmla="val 6667"/>
            </a:avLst>
          </a:prstGeom>
          <a:solidFill>
            <a:srgbClr val="FCEEEE"/>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37" name="Shape 35"/>
          <p:cNvSpPr/>
          <p:nvPr/>
        </p:nvSpPr>
        <p:spPr>
          <a:xfrm>
            <a:off x="10506456" y="1691640"/>
            <a:ext cx="548640" cy="548640"/>
          </a:xfrm>
          <a:prstGeom prst="ellipse">
            <a:avLst/>
          </a:prstGeom>
          <a:solidFill>
            <a:srgbClr val="B94A48"/>
          </a:solidFill>
          <a:ln w="12700">
            <a:solidFill>
              <a:srgbClr val="B94A48"/>
            </a:solidFill>
            <a:prstDash val="solid"/>
          </a:ln>
        </p:spPr>
      </p:sp>
      <p:sp>
        <p:nvSpPr>
          <p:cNvPr id="38" name="Text 36"/>
          <p:cNvSpPr txBox="1"/>
          <p:nvPr/>
        </p:nvSpPr>
        <p:spPr>
          <a:xfrm>
            <a:off x="10506456" y="1691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9" name="Text 37"/>
          <p:cNvSpPr txBox="1"/>
          <p:nvPr/>
        </p:nvSpPr>
        <p:spPr>
          <a:xfrm>
            <a:off x="10049256" y="2423160"/>
            <a:ext cx="1463040" cy="548640"/>
          </a:xfrm>
          <a:prstGeom prst="rect">
            <a:avLst/>
          </a:prstGeom>
          <a:noFill/>
          <a:ln/>
        </p:spPr>
        <p:txBody>
          <a:bodyPr wrap="square" lIns="0" tIns="0" rIns="0" bIns="0" rtlCol="0" anchor="t"/>
          <a:lstStyle/>
          <a:p>
            <a:pPr algn="ctr" indent="0" marL="0">
              <a:buNone/>
            </a:pPr>
            <a:r>
              <a:rPr lang="en-US" sz="1400" b="1" dirty="0">
                <a:solidFill>
                  <a:srgbClr val="B94A48"/>
                </a:solidFill>
                <a:latin typeface="Calibri" pitchFamily="34" charset="0"/>
                <a:ea typeface="Calibri" pitchFamily="34" charset="-122"/>
                <a:cs typeface="Calibri" pitchFamily="34" charset="-120"/>
              </a:rPr>
              <a:t>Response</a:t>
            </a:r>
            <a:endParaRPr lang="en-US" sz="1400" dirty="0"/>
          </a:p>
        </p:txBody>
      </p:sp>
      <p:sp>
        <p:nvSpPr>
          <p:cNvPr id="40" name="Text 38"/>
          <p:cNvSpPr txBox="1"/>
          <p:nvPr/>
        </p:nvSpPr>
        <p:spPr>
          <a:xfrm>
            <a:off x="10049256" y="3017520"/>
            <a:ext cx="1463040" cy="914400"/>
          </a:xfrm>
          <a:prstGeom prst="rect">
            <a:avLst/>
          </a:prstGeom>
          <a:noFill/>
          <a:ln/>
        </p:spPr>
        <p:txBody>
          <a:bodyPr wrap="square" lIns="0" tIns="0" rIns="0" bIns="0" rtlCol="0" anchor="t"/>
          <a:lstStyle/>
          <a:p>
            <a:pPr algn="ctr" indent="0" marL="0">
              <a:buNone/>
            </a:pPr>
            <a:r>
              <a:rPr lang="en-US" sz="1300" dirty="0">
                <a:solidFill>
                  <a:srgbClr val="1F2937"/>
                </a:solidFill>
                <a:latin typeface="Calibri" pitchFamily="34" charset="0"/>
                <a:ea typeface="Calibri" pitchFamily="34" charset="-122"/>
                <a:cs typeface="Calibri" pitchFamily="34" charset="-120"/>
              </a:rPr>
              <a:t>Result returned to the client</a:t>
            </a:r>
            <a:endParaRPr lang="en-US" sz="1300" dirty="0"/>
          </a:p>
        </p:txBody>
      </p:sp>
      <p:sp>
        <p:nvSpPr>
          <p:cNvPr id="41" name="Shape 39"/>
          <p:cNvSpPr/>
          <p:nvPr/>
        </p:nvSpPr>
        <p:spPr>
          <a:xfrm>
            <a:off x="585216" y="4480560"/>
            <a:ext cx="11018520" cy="1188720"/>
          </a:xfrm>
          <a:prstGeom prst="roundRect">
            <a:avLst>
              <a:gd name="adj" fmla="val 9231"/>
            </a:avLst>
          </a:prstGeom>
          <a:solidFill>
            <a:srgbClr val="FFFFFF"/>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42" name="Text 40"/>
          <p:cNvSpPr txBox="1"/>
          <p:nvPr/>
        </p:nvSpPr>
        <p:spPr>
          <a:xfrm>
            <a:off x="859536" y="4617720"/>
            <a:ext cx="2743200" cy="320040"/>
          </a:xfrm>
          <a:prstGeom prst="rect">
            <a:avLst/>
          </a:prstGeom>
          <a:noFill/>
          <a:ln/>
        </p:spPr>
        <p:txBody>
          <a:bodyPr wrap="square" lIns="0" tIns="0" rIns="0" bIns="0" rtlCol="0" anchor="ctr"/>
          <a:lstStyle/>
          <a:p>
            <a:pPr indent="0" marL="0">
              <a:buNone/>
            </a:pPr>
            <a:r>
              <a:rPr lang="en-US" sz="1400" b="1" dirty="0">
                <a:solidFill>
                  <a:srgbClr val="1F4E79"/>
                </a:solidFill>
                <a:latin typeface="Calibri" pitchFamily="34" charset="0"/>
                <a:ea typeface="Calibri" pitchFamily="34" charset="-122"/>
                <a:cs typeface="Calibri" pitchFamily="34" charset="-120"/>
              </a:rPr>
              <a:t>TIMING</a:t>
            </a:r>
            <a:endParaRPr lang="en-US" sz="1400" dirty="0"/>
          </a:p>
        </p:txBody>
      </p:sp>
      <p:sp>
        <p:nvSpPr>
          <p:cNvPr id="43" name="Text 41"/>
          <p:cNvSpPr txBox="1"/>
          <p:nvPr/>
        </p:nvSpPr>
        <p:spPr>
          <a:xfrm>
            <a:off x="859536" y="5029200"/>
            <a:ext cx="10424160" cy="457200"/>
          </a:xfrm>
          <a:prstGeom prst="rect">
            <a:avLst/>
          </a:prstGeom>
          <a:noFill/>
          <a:ln/>
        </p:spPr>
        <p:txBody>
          <a:bodyPr wrap="square" lIns="0" tIns="0" rIns="0" bIns="0" rtlCol="0" anchor="ctr"/>
          <a:lstStyle/>
          <a:p>
            <a:pPr algn="ctr" indent="0" marL="0">
              <a:buNone/>
            </a:pPr>
            <a:r>
              <a:rPr lang="en-US" sz="1900" b="1" dirty="0">
                <a:solidFill>
                  <a:srgbClr val="1F2937"/>
                </a:solidFill>
                <a:latin typeface="Calibri" pitchFamily="34" charset="0"/>
                <a:ea typeface="Calibri" pitchFamily="34" charset="-122"/>
                <a:cs typeface="Calibri" pitchFamily="34" charset="-120"/>
              </a:rPr>
              <a:t>Request time  →  processing  →  completion time  →  calculate latency</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594360"/>
          </a:xfrm>
          <a:prstGeom prst="rect">
            <a:avLst/>
          </a:prstGeom>
          <a:noFill/>
          <a:ln/>
        </p:spPr>
        <p:txBody>
          <a:bodyPr wrap="square" lIns="0" tIns="0" rIns="0" bIns="0" rtlCol="0" anchor="ctr"/>
          <a:lstStyle/>
          <a:p>
            <a:pPr algn="ctr" indent="0" marL="0">
              <a:buNone/>
            </a:pPr>
            <a:r>
              <a:rPr lang="en-US" sz="3200" b="1" dirty="0">
                <a:solidFill>
                  <a:srgbClr val="1F2937"/>
                </a:solidFill>
                <a:latin typeface="Calibri" pitchFamily="34" charset="0"/>
                <a:ea typeface="Calibri" pitchFamily="34" charset="-122"/>
                <a:cs typeface="Calibri" pitchFamily="34" charset="-120"/>
              </a:rPr>
              <a:t>Concurrency &amp; Synchronization</a:t>
            </a:r>
            <a:endParaRPr lang="en-US" sz="3200" dirty="0"/>
          </a:p>
        </p:txBody>
      </p:sp>
      <p:sp>
        <p:nvSpPr>
          <p:cNvPr id="3" name="Text 1"/>
          <p:cNvSpPr txBox="1"/>
          <p:nvPr/>
        </p:nvSpPr>
        <p:spPr>
          <a:xfrm>
            <a:off x="548640" y="868680"/>
            <a:ext cx="11091672" cy="320040"/>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Why both ideas are needed</a:t>
            </a:r>
            <a:endParaRPr lang="en-US" sz="14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OSSP • Team 20</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566928" y="1371600"/>
            <a:ext cx="3931920" cy="3657600"/>
          </a:xfrm>
          <a:prstGeom prst="roundRect">
            <a:avLst>
              <a:gd name="adj" fmla="val 3000"/>
            </a:avLst>
          </a:prstGeom>
          <a:solidFill>
            <a:srgbClr val="EAF2F8"/>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841248" y="1554480"/>
            <a:ext cx="3383280" cy="365760"/>
          </a:xfrm>
          <a:prstGeom prst="rect">
            <a:avLst/>
          </a:prstGeom>
          <a:noFill/>
          <a:ln/>
        </p:spPr>
        <p:txBody>
          <a:bodyPr wrap="square" lIns="0" tIns="0" rIns="0" bIns="0" rtlCol="0" anchor="ctr"/>
          <a:lstStyle/>
          <a:p>
            <a:pPr indent="0" marL="0">
              <a:buNone/>
            </a:pPr>
            <a:r>
              <a:rPr lang="en-US" sz="1800" b="1" dirty="0">
                <a:solidFill>
                  <a:srgbClr val="2F75B5"/>
                </a:solidFill>
                <a:latin typeface="Calibri" pitchFamily="34" charset="0"/>
                <a:ea typeface="Calibri" pitchFamily="34" charset="-122"/>
                <a:cs typeface="Calibri" pitchFamily="34" charset="-120"/>
              </a:rPr>
              <a:t>CONCURRENCY</a:t>
            </a:r>
            <a:endParaRPr lang="en-US" sz="1800" dirty="0"/>
          </a:p>
        </p:txBody>
      </p:sp>
      <p:sp>
        <p:nvSpPr>
          <p:cNvPr id="8" name="Text 6"/>
          <p:cNvSpPr txBox="1"/>
          <p:nvPr/>
        </p:nvSpPr>
        <p:spPr>
          <a:xfrm>
            <a:off x="841248" y="2148840"/>
            <a:ext cx="3383280" cy="2743200"/>
          </a:xfrm>
          <a:prstGeom prst="rect">
            <a:avLst/>
          </a:prstGeom>
          <a:noFill/>
          <a:ln/>
        </p:spPr>
        <p:txBody>
          <a:bodyPr wrap="square" lIns="0" tIns="0" rIns="0" bIns="0" rtlCol="0" anchor="t"/>
          <a:lstStyle/>
          <a:p>
            <a:pPr marL="228600" indent="-2286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Multiple clients send requests together</a:t>
            </a:r>
            <a:endParaRPr lang="en-US" sz="1500" dirty="0"/>
          </a:p>
          <a:p>
            <a:pPr marL="228600" indent="-2286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Different worker processes handle different requests</a:t>
            </a:r>
            <a:endParaRPr lang="en-US" sz="1500" dirty="0"/>
          </a:p>
          <a:p>
            <a:pPr marL="228600" indent="-2286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Server keeps working instead of waiting for each request to finish</a:t>
            </a:r>
            <a:endParaRPr lang="en-US" sz="1500" dirty="0"/>
          </a:p>
        </p:txBody>
      </p:sp>
      <p:sp>
        <p:nvSpPr>
          <p:cNvPr id="9" name="Shape 7"/>
          <p:cNvSpPr/>
          <p:nvPr/>
        </p:nvSpPr>
        <p:spPr>
          <a:xfrm>
            <a:off x="4910328" y="1371600"/>
            <a:ext cx="2377440" cy="3657600"/>
          </a:xfrm>
          <a:prstGeom prst="roundRect">
            <a:avLst>
              <a:gd name="adj" fmla="val 4615"/>
            </a:avLst>
          </a:prstGeom>
          <a:solidFill>
            <a:srgbClr val="F1ECF8"/>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5184648" y="1554480"/>
            <a:ext cx="1828800" cy="365760"/>
          </a:xfrm>
          <a:prstGeom prst="rect">
            <a:avLst/>
          </a:prstGeom>
          <a:noFill/>
          <a:ln/>
        </p:spPr>
        <p:txBody>
          <a:bodyPr wrap="square" lIns="0" tIns="0" rIns="0" bIns="0" rtlCol="0" anchor="ctr"/>
          <a:lstStyle/>
          <a:p>
            <a:pPr indent="0" marL="0">
              <a:buNone/>
            </a:pPr>
            <a:r>
              <a:rPr lang="en-US" sz="1800" b="1" dirty="0">
                <a:solidFill>
                  <a:srgbClr val="6B4FA1"/>
                </a:solidFill>
                <a:latin typeface="Calibri" pitchFamily="34" charset="0"/>
                <a:ea typeface="Calibri" pitchFamily="34" charset="-122"/>
                <a:cs typeface="Calibri" pitchFamily="34" charset="-120"/>
              </a:rPr>
              <a:t>SHARED DATA</a:t>
            </a:r>
            <a:endParaRPr lang="en-US" sz="1800" dirty="0"/>
          </a:p>
        </p:txBody>
      </p:sp>
      <p:sp>
        <p:nvSpPr>
          <p:cNvPr id="11" name="Text 9"/>
          <p:cNvSpPr txBox="1"/>
          <p:nvPr/>
        </p:nvSpPr>
        <p:spPr>
          <a:xfrm>
            <a:off x="5184648" y="2148840"/>
            <a:ext cx="1828800" cy="2743200"/>
          </a:xfrm>
          <a:prstGeom prst="rect">
            <a:avLst/>
          </a:prstGeom>
          <a:noFill/>
          <a:ln/>
        </p:spPr>
        <p:txBody>
          <a:bodyPr wrap="square" lIns="0" tIns="0" rIns="0" bIns="0" rtlCol="0" anchor="t"/>
          <a:lstStyle/>
          <a:p>
            <a:pPr marL="228600" indent="-2286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Request queue</a:t>
            </a:r>
            <a:endParaRPr lang="en-US" sz="1500" dirty="0"/>
          </a:p>
          <a:p>
            <a:pPr marL="228600" indent="-2286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Completion queue</a:t>
            </a:r>
            <a:endParaRPr lang="en-US" sz="1500" dirty="0"/>
          </a:p>
          <a:p>
            <a:pPr marL="228600" indent="-2286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Request information</a:t>
            </a:r>
            <a:endParaRPr lang="en-US" sz="1500" dirty="0"/>
          </a:p>
        </p:txBody>
      </p:sp>
      <p:sp>
        <p:nvSpPr>
          <p:cNvPr id="12" name="Shape 10"/>
          <p:cNvSpPr/>
          <p:nvPr/>
        </p:nvSpPr>
        <p:spPr>
          <a:xfrm>
            <a:off x="7699248" y="1371600"/>
            <a:ext cx="3931920" cy="3657600"/>
          </a:xfrm>
          <a:prstGeom prst="roundRect">
            <a:avLst>
              <a:gd name="adj" fmla="val 3000"/>
            </a:avLst>
          </a:prstGeom>
          <a:solidFill>
            <a:srgbClr val="E9F6F3"/>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7973568" y="1554480"/>
            <a:ext cx="3383280" cy="365760"/>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SYNCHRONIZATION</a:t>
            </a:r>
            <a:endParaRPr lang="en-US" sz="1800" dirty="0"/>
          </a:p>
        </p:txBody>
      </p:sp>
      <p:sp>
        <p:nvSpPr>
          <p:cNvPr id="14" name="Text 12"/>
          <p:cNvSpPr txBox="1"/>
          <p:nvPr/>
        </p:nvSpPr>
        <p:spPr>
          <a:xfrm>
            <a:off x="7973568" y="2148840"/>
            <a:ext cx="3383280" cy="2743200"/>
          </a:xfrm>
          <a:prstGeom prst="rect">
            <a:avLst/>
          </a:prstGeom>
          <a:noFill/>
          <a:ln/>
        </p:spPr>
        <p:txBody>
          <a:bodyPr wrap="square" lIns="0" tIns="0" rIns="0" bIns="0" rtlCol="0" anchor="t"/>
          <a:lstStyle/>
          <a:p>
            <a:pPr marL="228600" indent="-2286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Coordinate access to shared data</a:t>
            </a:r>
            <a:endParaRPr lang="en-US" sz="1500" dirty="0"/>
          </a:p>
          <a:p>
            <a:pPr marL="228600" indent="-2286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Concurrent operations do not corrupt or conflict</a:t>
            </a:r>
            <a:endParaRPr lang="en-US" sz="1500" dirty="0"/>
          </a:p>
          <a:p>
            <a:pPr marL="228600" indent="-228600">
              <a:spcAft>
                <a:spcPts val="900"/>
              </a:spcAft>
              <a:buSzPct val="100000"/>
              <a:buChar char="•"/>
            </a:pPr>
            <a:r>
              <a:rPr lang="en-US" sz="1500" dirty="0">
                <a:solidFill>
                  <a:srgbClr val="1F2937"/>
                </a:solidFill>
                <a:latin typeface="Calibri" pitchFamily="34" charset="0"/>
                <a:ea typeface="Calibri" pitchFamily="34" charset="-122"/>
                <a:cs typeface="Calibri" pitchFamily="34" charset="-120"/>
              </a:rPr>
              <a:t>Goal: system stays correct while requests are processed concurrently</a:t>
            </a:r>
            <a:endParaRPr lang="en-US" sz="1500" dirty="0"/>
          </a:p>
        </p:txBody>
      </p:sp>
      <p:sp>
        <p:nvSpPr>
          <p:cNvPr id="15" name="Shape 13"/>
          <p:cNvSpPr/>
          <p:nvPr/>
        </p:nvSpPr>
        <p:spPr>
          <a:xfrm>
            <a:off x="4553712" y="3017520"/>
            <a:ext cx="320040" cy="320040"/>
          </a:xfrm>
          <a:prstGeom prst="rightArrow">
            <a:avLst/>
          </a:prstGeom>
          <a:solidFill>
            <a:srgbClr val="1F4E79"/>
          </a:solidFill>
          <a:ln w="12700">
            <a:solidFill>
              <a:srgbClr val="1F4E79"/>
            </a:solidFill>
            <a:prstDash val="solid"/>
          </a:ln>
        </p:spPr>
      </p:sp>
      <p:sp>
        <p:nvSpPr>
          <p:cNvPr id="16" name="Shape 14"/>
          <p:cNvSpPr/>
          <p:nvPr/>
        </p:nvSpPr>
        <p:spPr>
          <a:xfrm>
            <a:off x="7333488" y="3017520"/>
            <a:ext cx="320040" cy="320040"/>
          </a:xfrm>
          <a:prstGeom prst="leftArrow">
            <a:avLst/>
          </a:prstGeom>
          <a:solidFill>
            <a:srgbClr val="1F4E79"/>
          </a:solidFill>
          <a:ln w="12700">
            <a:solidFill>
              <a:srgbClr val="1F4E79"/>
            </a:solidFill>
            <a:prstDash val="solid"/>
          </a:ln>
        </p:spPr>
      </p:sp>
      <p:sp>
        <p:nvSpPr>
          <p:cNvPr id="17" name="Text 15"/>
          <p:cNvSpPr txBox="1"/>
          <p:nvPr/>
        </p:nvSpPr>
        <p:spPr>
          <a:xfrm>
            <a:off x="548640" y="5394960"/>
            <a:ext cx="11091672" cy="365760"/>
          </a:xfrm>
          <a:prstGeom prst="rect">
            <a:avLst/>
          </a:prstGeom>
          <a:noFill/>
          <a:ln/>
        </p:spPr>
        <p:txBody>
          <a:bodyPr wrap="square" lIns="0" tIns="0" rIns="0" bIns="0" rtlCol="0" anchor="ctr"/>
          <a:lstStyle/>
          <a:p>
            <a:pPr algn="ctr" indent="0" marL="0">
              <a:buNone/>
            </a:pPr>
            <a:r>
              <a:rPr lang="en-US" sz="1600" b="1" dirty="0">
                <a:solidFill>
                  <a:srgbClr val="1F4E79"/>
                </a:solidFill>
                <a:latin typeface="Calibri" pitchFamily="34" charset="0"/>
                <a:ea typeface="Calibri" pitchFamily="34" charset="-122"/>
                <a:cs typeface="Calibri" pitchFamily="34" charset="-120"/>
              </a:rPr>
              <a:t>Asynchronous processing = avoid unnecessary waiting.   Synchronization = safe coordination.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594360"/>
          </a:xfrm>
          <a:prstGeom prst="rect">
            <a:avLst/>
          </a:prstGeom>
          <a:noFill/>
          <a:ln/>
        </p:spPr>
        <p:txBody>
          <a:bodyPr wrap="square" lIns="0" tIns="0" rIns="0" bIns="0" rtlCol="0" anchor="ctr"/>
          <a:lstStyle/>
          <a:p>
            <a:pPr algn="ctr" indent="0" marL="0">
              <a:buNone/>
            </a:pPr>
            <a:r>
              <a:rPr lang="en-US" sz="3200" b="1" dirty="0">
                <a:solidFill>
                  <a:srgbClr val="1F2937"/>
                </a:solidFill>
                <a:latin typeface="Calibri" pitchFamily="34" charset="0"/>
                <a:ea typeface="Calibri" pitchFamily="34" charset="-122"/>
                <a:cs typeface="Calibri" pitchFamily="34" charset="-120"/>
              </a:rPr>
              <a:t>Implementation Flow</a:t>
            </a:r>
            <a:endParaRPr lang="en-US" sz="3200" dirty="0"/>
          </a:p>
        </p:txBody>
      </p:sp>
      <p:sp>
        <p:nvSpPr>
          <p:cNvPr id="3" name="Text 1"/>
          <p:cNvSpPr txBox="1"/>
          <p:nvPr/>
        </p:nvSpPr>
        <p:spPr>
          <a:xfrm>
            <a:off x="548640" y="868680"/>
            <a:ext cx="11091672" cy="320040"/>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What we will demonstrate in the terminal</a:t>
            </a:r>
            <a:endParaRPr lang="en-US" sz="14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OSSP • Team 20</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
        <p:nvSpPr>
          <p:cNvPr id="6" name="Shape 4"/>
          <p:cNvSpPr/>
          <p:nvPr/>
        </p:nvSpPr>
        <p:spPr>
          <a:xfrm>
            <a:off x="566928" y="1371600"/>
            <a:ext cx="3502152" cy="1463040"/>
          </a:xfrm>
          <a:prstGeom prst="roundRect">
            <a:avLst>
              <a:gd name="adj" fmla="val 7500"/>
            </a:avLst>
          </a:prstGeom>
          <a:solidFill>
            <a:srgbClr val="EAF2F8"/>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841248" y="1600200"/>
            <a:ext cx="502920" cy="502920"/>
          </a:xfrm>
          <a:prstGeom prst="ellipse">
            <a:avLst/>
          </a:prstGeom>
          <a:solidFill>
            <a:srgbClr val="2F75B5"/>
          </a:solidFill>
          <a:ln w="12700">
            <a:solidFill>
              <a:srgbClr val="2F75B5"/>
            </a:solidFill>
            <a:prstDash val="solid"/>
          </a:ln>
        </p:spPr>
      </p:sp>
      <p:sp>
        <p:nvSpPr>
          <p:cNvPr id="8" name="Text 6"/>
          <p:cNvSpPr txBox="1"/>
          <p:nvPr/>
        </p:nvSpPr>
        <p:spPr>
          <a:xfrm>
            <a:off x="841248" y="1600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txBox="1"/>
          <p:nvPr/>
        </p:nvSpPr>
        <p:spPr>
          <a:xfrm>
            <a:off x="1481328" y="1600200"/>
            <a:ext cx="2468880" cy="502920"/>
          </a:xfrm>
          <a:prstGeom prst="rect">
            <a:avLst/>
          </a:prstGeom>
          <a:noFill/>
          <a:ln/>
        </p:spPr>
        <p:txBody>
          <a:bodyPr wrap="square" lIns="0" tIns="0" rIns="0" bIns="0" rtlCol="0" anchor="ctr"/>
          <a:lstStyle/>
          <a:p>
            <a:pPr indent="0" marL="0">
              <a:buNone/>
            </a:pPr>
            <a:r>
              <a:rPr lang="en-US" sz="1900" b="1" dirty="0">
                <a:solidFill>
                  <a:srgbClr val="2F75B5"/>
                </a:solidFill>
                <a:latin typeface="Calibri" pitchFamily="34" charset="0"/>
                <a:ea typeface="Calibri" pitchFamily="34" charset="-122"/>
                <a:cs typeface="Calibri" pitchFamily="34" charset="-120"/>
              </a:rPr>
              <a:t>Compile</a:t>
            </a:r>
            <a:endParaRPr lang="en-US" sz="1900" dirty="0"/>
          </a:p>
        </p:txBody>
      </p:sp>
      <p:sp>
        <p:nvSpPr>
          <p:cNvPr id="10" name="Text 8"/>
          <p:cNvSpPr txBox="1"/>
          <p:nvPr/>
        </p:nvSpPr>
        <p:spPr>
          <a:xfrm>
            <a:off x="841248" y="2194560"/>
            <a:ext cx="2971800" cy="5486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Compile the server and client C programs using GCC.</a:t>
            </a:r>
            <a:endParaRPr lang="en-US" sz="1400" dirty="0"/>
          </a:p>
        </p:txBody>
      </p:sp>
      <p:sp>
        <p:nvSpPr>
          <p:cNvPr id="11" name="Shape 9"/>
          <p:cNvSpPr/>
          <p:nvPr/>
        </p:nvSpPr>
        <p:spPr>
          <a:xfrm>
            <a:off x="4343400" y="1371600"/>
            <a:ext cx="3502152" cy="1463040"/>
          </a:xfrm>
          <a:prstGeom prst="roundRect">
            <a:avLst>
              <a:gd name="adj" fmla="val 7500"/>
            </a:avLst>
          </a:prstGeom>
          <a:solidFill>
            <a:srgbClr val="E9F6F3"/>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4617720" y="1600200"/>
            <a:ext cx="502920" cy="502920"/>
          </a:xfrm>
          <a:prstGeom prst="ellipse">
            <a:avLst/>
          </a:prstGeom>
          <a:solidFill>
            <a:srgbClr val="0F766E"/>
          </a:solidFill>
          <a:ln w="12700">
            <a:solidFill>
              <a:srgbClr val="0F766E"/>
            </a:solidFill>
            <a:prstDash val="solid"/>
          </a:ln>
        </p:spPr>
      </p:sp>
      <p:sp>
        <p:nvSpPr>
          <p:cNvPr id="13" name="Text 11"/>
          <p:cNvSpPr txBox="1"/>
          <p:nvPr/>
        </p:nvSpPr>
        <p:spPr>
          <a:xfrm>
            <a:off x="4617720" y="1600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txBox="1"/>
          <p:nvPr/>
        </p:nvSpPr>
        <p:spPr>
          <a:xfrm>
            <a:off x="5257800" y="1600200"/>
            <a:ext cx="2468880" cy="502920"/>
          </a:xfrm>
          <a:prstGeom prst="rect">
            <a:avLst/>
          </a:prstGeom>
          <a:noFill/>
          <a:ln/>
        </p:spPr>
        <p:txBody>
          <a:bodyPr wrap="square" lIns="0" tIns="0" rIns="0" bIns="0" rtlCol="0" anchor="ctr"/>
          <a:lstStyle/>
          <a:p>
            <a:pPr indent="0" marL="0">
              <a:buNone/>
            </a:pPr>
            <a:r>
              <a:rPr lang="en-US" sz="1900" b="1" dirty="0">
                <a:solidFill>
                  <a:srgbClr val="0F766E"/>
                </a:solidFill>
                <a:latin typeface="Calibri" pitchFamily="34" charset="0"/>
                <a:ea typeface="Calibri" pitchFamily="34" charset="-122"/>
                <a:cs typeface="Calibri" pitchFamily="34" charset="-120"/>
              </a:rPr>
              <a:t>Start server</a:t>
            </a:r>
            <a:endParaRPr lang="en-US" sz="1900" dirty="0"/>
          </a:p>
        </p:txBody>
      </p:sp>
      <p:sp>
        <p:nvSpPr>
          <p:cNvPr id="15" name="Text 13"/>
          <p:cNvSpPr txBox="1"/>
          <p:nvPr/>
        </p:nvSpPr>
        <p:spPr>
          <a:xfrm>
            <a:off x="4617720" y="2194560"/>
            <a:ext cx="2971800" cy="5486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Run the server and wait for clients.</a:t>
            </a:r>
            <a:endParaRPr lang="en-US" sz="1400" dirty="0"/>
          </a:p>
        </p:txBody>
      </p:sp>
      <p:sp>
        <p:nvSpPr>
          <p:cNvPr id="16" name="Shape 14"/>
          <p:cNvSpPr/>
          <p:nvPr/>
        </p:nvSpPr>
        <p:spPr>
          <a:xfrm>
            <a:off x="8119872" y="1371600"/>
            <a:ext cx="3502152" cy="1463040"/>
          </a:xfrm>
          <a:prstGeom prst="roundRect">
            <a:avLst>
              <a:gd name="adj" fmla="val 7500"/>
            </a:avLst>
          </a:prstGeom>
          <a:solidFill>
            <a:srgbClr val="F1ECF8"/>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8394192" y="1600200"/>
            <a:ext cx="502920" cy="502920"/>
          </a:xfrm>
          <a:prstGeom prst="ellipse">
            <a:avLst/>
          </a:prstGeom>
          <a:solidFill>
            <a:srgbClr val="6B4FA1"/>
          </a:solidFill>
          <a:ln w="12700">
            <a:solidFill>
              <a:srgbClr val="6B4FA1"/>
            </a:solidFill>
            <a:prstDash val="solid"/>
          </a:ln>
        </p:spPr>
      </p:sp>
      <p:sp>
        <p:nvSpPr>
          <p:cNvPr id="18" name="Text 16"/>
          <p:cNvSpPr txBox="1"/>
          <p:nvPr/>
        </p:nvSpPr>
        <p:spPr>
          <a:xfrm>
            <a:off x="8394192" y="1600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txBox="1"/>
          <p:nvPr/>
        </p:nvSpPr>
        <p:spPr>
          <a:xfrm>
            <a:off x="9034272" y="1600200"/>
            <a:ext cx="2468880" cy="502920"/>
          </a:xfrm>
          <a:prstGeom prst="rect">
            <a:avLst/>
          </a:prstGeom>
          <a:noFill/>
          <a:ln/>
        </p:spPr>
        <p:txBody>
          <a:bodyPr wrap="square" lIns="0" tIns="0" rIns="0" bIns="0" rtlCol="0" anchor="ctr"/>
          <a:lstStyle/>
          <a:p>
            <a:pPr indent="0" marL="0">
              <a:buNone/>
            </a:pPr>
            <a:r>
              <a:rPr lang="en-US" sz="1900" b="1" dirty="0">
                <a:solidFill>
                  <a:srgbClr val="6B4FA1"/>
                </a:solidFill>
                <a:latin typeface="Calibri" pitchFamily="34" charset="0"/>
                <a:ea typeface="Calibri" pitchFamily="34" charset="-122"/>
                <a:cs typeface="Calibri" pitchFamily="34" charset="-120"/>
              </a:rPr>
              <a:t>Run client</a:t>
            </a:r>
            <a:endParaRPr lang="en-US" sz="1900" dirty="0"/>
          </a:p>
        </p:txBody>
      </p:sp>
      <p:sp>
        <p:nvSpPr>
          <p:cNvPr id="20" name="Text 18"/>
          <p:cNvSpPr txBox="1"/>
          <p:nvPr/>
        </p:nvSpPr>
        <p:spPr>
          <a:xfrm>
            <a:off x="8394192" y="2194560"/>
            <a:ext cx="2971800" cy="5486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Send a READ or WRITE request.</a:t>
            </a:r>
            <a:endParaRPr lang="en-US" sz="1400" dirty="0"/>
          </a:p>
        </p:txBody>
      </p:sp>
      <p:sp>
        <p:nvSpPr>
          <p:cNvPr id="21" name="Text 19"/>
          <p:cNvSpPr txBox="1"/>
          <p:nvPr/>
        </p:nvSpPr>
        <p:spPr>
          <a:xfrm>
            <a:off x="566928" y="3063240"/>
            <a:ext cx="5394960" cy="274320"/>
          </a:xfrm>
          <a:prstGeom prst="rect">
            <a:avLst/>
          </a:prstGeom>
          <a:noFill/>
          <a:ln/>
        </p:spPr>
        <p:txBody>
          <a:bodyPr wrap="square" lIns="0" tIns="0" rIns="0" bIns="0"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CLIENT TERMINAL</a:t>
            </a:r>
            <a:endParaRPr lang="en-US" sz="1300" dirty="0"/>
          </a:p>
        </p:txBody>
      </p:sp>
      <p:sp>
        <p:nvSpPr>
          <p:cNvPr id="22" name="Shape 20"/>
          <p:cNvSpPr/>
          <p:nvPr/>
        </p:nvSpPr>
        <p:spPr>
          <a:xfrm>
            <a:off x="566928" y="3383280"/>
            <a:ext cx="5394960" cy="1920240"/>
          </a:xfrm>
          <a:prstGeom prst="roundRect">
            <a:avLst>
              <a:gd name="adj" fmla="val 5714"/>
            </a:avLst>
          </a:prstGeom>
          <a:solidFill>
            <a:srgbClr val="1F2937"/>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23" name="Text 21"/>
          <p:cNvSpPr txBox="1"/>
          <p:nvPr/>
        </p:nvSpPr>
        <p:spPr>
          <a:xfrm>
            <a:off x="841248" y="3566160"/>
            <a:ext cx="4846320" cy="1554480"/>
          </a:xfrm>
          <a:prstGeom prst="rect">
            <a:avLst/>
          </a:prstGeom>
          <a:noFill/>
          <a:ln/>
        </p:spPr>
        <p:txBody>
          <a:bodyPr wrap="square" lIns="0" tIns="0" rIns="0" bIns="0" rtlCol="0" anchor="t"/>
          <a:lstStyle/>
          <a:p>
            <a:pPr indent="0" marL="0">
              <a:spcAft>
                <a:spcPts val="600"/>
              </a:spcAft>
              <a:buNone/>
            </a:pPr>
            <a:r>
              <a:rPr lang="en-US" sz="1400" dirty="0">
                <a:solidFill>
                  <a:srgbClr val="E9F6F3"/>
                </a:solidFill>
                <a:latin typeface="Courier New" pitchFamily="34" charset="0"/>
                <a:ea typeface="Courier New" pitchFamily="34" charset="-122"/>
                <a:cs typeface="Courier New" pitchFamily="34" charset="-120"/>
              </a:rPr>
              <a:t>$ ./client</a:t>
            </a:r>
            <a:endParaRPr lang="en-US" sz="1400" dirty="0"/>
          </a:p>
          <a:p>
            <a:pPr indent="0" marL="0">
              <a:spcAft>
                <a:spcPts val="600"/>
              </a:spcAft>
              <a:buNone/>
            </a:pPr>
            <a:r>
              <a:rPr lang="en-US" sz="1400" dirty="0">
                <a:solidFill>
                  <a:srgbClr val="E9F6F3"/>
                </a:solidFill>
                <a:latin typeface="Courier New" pitchFamily="34" charset="0"/>
                <a:ea typeface="Courier New" pitchFamily="34" charset="-122"/>
                <a:cs typeface="Courier New" pitchFamily="34" charset="-120"/>
              </a:rPr>
              <a:t>Enter operation: WRITE</a:t>
            </a:r>
            <a:endParaRPr lang="en-US" sz="1400" dirty="0"/>
          </a:p>
          <a:p>
            <a:pPr indent="0" marL="0">
              <a:spcAft>
                <a:spcPts val="600"/>
              </a:spcAft>
              <a:buNone/>
            </a:pPr>
            <a:r>
              <a:rPr lang="en-US" sz="1400" dirty="0">
                <a:solidFill>
                  <a:srgbClr val="E9F6F3"/>
                </a:solidFill>
                <a:latin typeface="Courier New" pitchFamily="34" charset="0"/>
                <a:ea typeface="Courier New" pitchFamily="34" charset="-122"/>
                <a:cs typeface="Courier New" pitchFamily="34" charset="-120"/>
              </a:rPr>
              <a:t>Enter filename: test.txt</a:t>
            </a:r>
            <a:endParaRPr lang="en-US" sz="1400" dirty="0"/>
          </a:p>
          <a:p>
            <a:pPr indent="0" marL="0">
              <a:spcAft>
                <a:spcPts val="600"/>
              </a:spcAft>
              <a:buNone/>
            </a:pPr>
            <a:r>
              <a:rPr lang="en-US" sz="1400" dirty="0">
                <a:solidFill>
                  <a:srgbClr val="E9F6F3"/>
                </a:solidFill>
                <a:latin typeface="Courier New" pitchFamily="34" charset="0"/>
                <a:ea typeface="Courier New" pitchFamily="34" charset="-122"/>
                <a:cs typeface="Courier New" pitchFamily="34" charset="-120"/>
              </a:rPr>
              <a:t>Enter data: Hello Team 20</a:t>
            </a:r>
            <a:endParaRPr lang="en-US" sz="1400" dirty="0"/>
          </a:p>
        </p:txBody>
      </p:sp>
      <p:sp>
        <p:nvSpPr>
          <p:cNvPr id="24" name="Text 22"/>
          <p:cNvSpPr txBox="1"/>
          <p:nvPr/>
        </p:nvSpPr>
        <p:spPr>
          <a:xfrm>
            <a:off x="6236208" y="3063240"/>
            <a:ext cx="5394960" cy="274320"/>
          </a:xfrm>
          <a:prstGeom prst="rect">
            <a:avLst/>
          </a:prstGeom>
          <a:noFill/>
          <a:ln/>
        </p:spPr>
        <p:txBody>
          <a:bodyPr wrap="square" lIns="0" tIns="0" rIns="0" bIns="0" rtlCol="0" anchor="ctr"/>
          <a:lstStyle/>
          <a:p>
            <a:pPr indent="0" marL="0">
              <a:buNone/>
            </a:pPr>
            <a:r>
              <a:rPr lang="en-US" sz="1300" b="1" dirty="0">
                <a:solidFill>
                  <a:srgbClr val="C97A22"/>
                </a:solidFill>
                <a:latin typeface="Calibri" pitchFamily="34" charset="0"/>
                <a:ea typeface="Calibri" pitchFamily="34" charset="-122"/>
                <a:cs typeface="Calibri" pitchFamily="34" charset="-120"/>
              </a:rPr>
              <a:t>SERVER TERMINAL</a:t>
            </a:r>
            <a:endParaRPr lang="en-US" sz="1300" dirty="0"/>
          </a:p>
        </p:txBody>
      </p:sp>
      <p:sp>
        <p:nvSpPr>
          <p:cNvPr id="25" name="Shape 23"/>
          <p:cNvSpPr/>
          <p:nvPr/>
        </p:nvSpPr>
        <p:spPr>
          <a:xfrm>
            <a:off x="6236208" y="3383280"/>
            <a:ext cx="5394960" cy="1920240"/>
          </a:xfrm>
          <a:prstGeom prst="roundRect">
            <a:avLst>
              <a:gd name="adj" fmla="val 5714"/>
            </a:avLst>
          </a:prstGeom>
          <a:solidFill>
            <a:srgbClr val="1F2937"/>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26" name="Text 24"/>
          <p:cNvSpPr txBox="1"/>
          <p:nvPr/>
        </p:nvSpPr>
        <p:spPr>
          <a:xfrm>
            <a:off x="6510528" y="3566160"/>
            <a:ext cx="4846320" cy="1554480"/>
          </a:xfrm>
          <a:prstGeom prst="rect">
            <a:avLst/>
          </a:prstGeom>
          <a:noFill/>
          <a:ln/>
        </p:spPr>
        <p:txBody>
          <a:bodyPr wrap="square" lIns="0" tIns="0" rIns="0" bIns="0" rtlCol="0" anchor="t"/>
          <a:lstStyle/>
          <a:p>
            <a:pPr indent="0" marL="0">
              <a:spcAft>
                <a:spcPts val="600"/>
              </a:spcAft>
              <a:buNone/>
            </a:pPr>
            <a:r>
              <a:rPr lang="en-US" sz="1400" dirty="0">
                <a:solidFill>
                  <a:srgbClr val="E9F6F3"/>
                </a:solidFill>
                <a:latin typeface="Courier New" pitchFamily="34" charset="0"/>
                <a:ea typeface="Courier New" pitchFamily="34" charset="-122"/>
                <a:cs typeface="Courier New" pitchFamily="34" charset="-120"/>
              </a:rPr>
              <a:t>[CONNECT] Client</a:t>
            </a:r>
            <a:endParaRPr lang="en-US" sz="1400" dirty="0"/>
          </a:p>
          <a:p>
            <a:pPr indent="0" marL="0">
              <a:spcAft>
                <a:spcPts val="600"/>
              </a:spcAft>
              <a:buNone/>
            </a:pPr>
            <a:r>
              <a:rPr lang="en-US" sz="1400" dirty="0">
                <a:solidFill>
                  <a:srgbClr val="E9F6F3"/>
                </a:solidFill>
                <a:latin typeface="Courier New" pitchFamily="34" charset="0"/>
                <a:ea typeface="Courier New" pitchFamily="34" charset="-122"/>
                <a:cs typeface="Courier New" pitchFamily="34" charset="-120"/>
              </a:rPr>
              <a:t>[QUEUE] Request received</a:t>
            </a:r>
            <a:endParaRPr lang="en-US" sz="1400" dirty="0"/>
          </a:p>
          <a:p>
            <a:pPr indent="0" marL="0">
              <a:spcAft>
                <a:spcPts val="600"/>
              </a:spcAft>
              <a:buNone/>
            </a:pPr>
            <a:r>
              <a:rPr lang="en-US" sz="1400" dirty="0">
                <a:solidFill>
                  <a:srgbClr val="E9F6F3"/>
                </a:solidFill>
                <a:latin typeface="Courier New" pitchFamily="34" charset="0"/>
                <a:ea typeface="Courier New" pitchFamily="34" charset="-122"/>
                <a:cs typeface="Courier New" pitchFamily="34" charset="-120"/>
              </a:rPr>
              <a:t>[WORKER] Processing</a:t>
            </a:r>
            <a:endParaRPr lang="en-US" sz="1400" dirty="0"/>
          </a:p>
          <a:p>
            <a:pPr indent="0" marL="0">
              <a:spcAft>
                <a:spcPts val="600"/>
              </a:spcAft>
              <a:buNone/>
            </a:pPr>
            <a:r>
              <a:rPr lang="en-US" sz="1400" dirty="0">
                <a:solidFill>
                  <a:srgbClr val="E9F6F3"/>
                </a:solidFill>
                <a:latin typeface="Courier New" pitchFamily="34" charset="0"/>
                <a:ea typeface="Courier New" pitchFamily="34" charset="-122"/>
                <a:cs typeface="Courier New" pitchFamily="34" charset="-120"/>
              </a:rPr>
              <a:t>[COMPLETE] Result returned</a:t>
            </a:r>
            <a:endParaRPr lang="en-US" sz="1400" dirty="0"/>
          </a:p>
        </p:txBody>
      </p:sp>
      <p:sp>
        <p:nvSpPr>
          <p:cNvPr id="27" name="Text 25"/>
          <p:cNvSpPr txBox="1"/>
          <p:nvPr/>
        </p:nvSpPr>
        <p:spPr>
          <a:xfrm>
            <a:off x="548640" y="5623560"/>
            <a:ext cx="11091672" cy="365760"/>
          </a:xfrm>
          <a:prstGeom prst="rect">
            <a:avLst/>
          </a:prstGeom>
          <a:noFill/>
          <a:ln/>
        </p:spPr>
        <p:txBody>
          <a:bodyPr wrap="square" lIns="0" tIns="0" rIns="0" bIns="0" rtlCol="0" anchor="ctr"/>
          <a:lstStyle/>
          <a:p>
            <a:pPr algn="ctr" indent="0" marL="0">
              <a:buNone/>
            </a:pPr>
            <a:r>
              <a:rPr lang="en-US" sz="1600" b="1" dirty="0">
                <a:solidFill>
                  <a:srgbClr val="1F4E79"/>
                </a:solidFill>
                <a:latin typeface="Calibri" pitchFamily="34" charset="0"/>
                <a:ea typeface="Calibri" pitchFamily="34" charset="-122"/>
                <a:cs typeface="Calibri" pitchFamily="34" charset="-120"/>
              </a:rPr>
              <a:t>Demo order: WRITE → READ → multiple client requests → performance summary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594360"/>
          </a:xfrm>
          <a:prstGeom prst="rect">
            <a:avLst/>
          </a:prstGeom>
          <a:noFill/>
          <a:ln/>
        </p:spPr>
        <p:txBody>
          <a:bodyPr wrap="square" lIns="0" tIns="0" rIns="0" bIns="0" rtlCol="0" anchor="ctr"/>
          <a:lstStyle/>
          <a:p>
            <a:pPr algn="ctr" indent="0" marL="0">
              <a:buNone/>
            </a:pPr>
            <a:r>
              <a:rPr lang="en-US" sz="3200" b="1" dirty="0">
                <a:solidFill>
                  <a:srgbClr val="1F2937"/>
                </a:solidFill>
                <a:latin typeface="Calibri" pitchFamily="34" charset="0"/>
                <a:ea typeface="Calibri" pitchFamily="34" charset="-122"/>
                <a:cs typeface="Calibri" pitchFamily="34" charset="-120"/>
              </a:rPr>
              <a:t>Testing &amp; Performance</a:t>
            </a:r>
            <a:endParaRPr lang="en-US" sz="3200" dirty="0"/>
          </a:p>
        </p:txBody>
      </p:sp>
      <p:sp>
        <p:nvSpPr>
          <p:cNvPr id="3" name="Text 1"/>
          <p:cNvSpPr txBox="1"/>
          <p:nvPr/>
        </p:nvSpPr>
        <p:spPr>
          <a:xfrm>
            <a:off x="548640" y="868680"/>
            <a:ext cx="11091672" cy="320040"/>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How we verify the system and measure behavior</a:t>
            </a:r>
            <a:endParaRPr lang="en-US" sz="14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OSSP • Team 20</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
        <p:nvSpPr>
          <p:cNvPr id="6" name="Shape 4"/>
          <p:cNvSpPr/>
          <p:nvPr/>
        </p:nvSpPr>
        <p:spPr>
          <a:xfrm>
            <a:off x="566928" y="1371600"/>
            <a:ext cx="3502152" cy="1783080"/>
          </a:xfrm>
          <a:prstGeom prst="roundRect">
            <a:avLst>
              <a:gd name="adj" fmla="val 6154"/>
            </a:avLst>
          </a:prstGeom>
          <a:solidFill>
            <a:srgbClr val="EAF2F8"/>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841248" y="1554480"/>
            <a:ext cx="2926080" cy="274320"/>
          </a:xfrm>
          <a:prstGeom prst="rect">
            <a:avLst/>
          </a:prstGeom>
          <a:noFill/>
          <a:ln/>
        </p:spPr>
        <p:txBody>
          <a:bodyPr wrap="square" lIns="0" tIns="0" rIns="0" bIns="0" rtlCol="0" anchor="ctr"/>
          <a:lstStyle/>
          <a:p>
            <a:pPr indent="0" marL="0">
              <a:buNone/>
            </a:pPr>
            <a:r>
              <a:rPr lang="en-US" sz="1200" b="1" dirty="0">
                <a:solidFill>
                  <a:srgbClr val="2F75B5"/>
                </a:solidFill>
                <a:latin typeface="Calibri" pitchFamily="34" charset="0"/>
                <a:ea typeface="Calibri" pitchFamily="34" charset="-122"/>
                <a:cs typeface="Calibri" pitchFamily="34" charset="-120"/>
              </a:rPr>
              <a:t>TEST 1</a:t>
            </a:r>
            <a:endParaRPr lang="en-US" sz="1200" dirty="0"/>
          </a:p>
        </p:txBody>
      </p:sp>
      <p:sp>
        <p:nvSpPr>
          <p:cNvPr id="8" name="Text 6"/>
          <p:cNvSpPr txBox="1"/>
          <p:nvPr/>
        </p:nvSpPr>
        <p:spPr>
          <a:xfrm>
            <a:off x="841248" y="1874520"/>
            <a:ext cx="2926080" cy="365760"/>
          </a:xfrm>
          <a:prstGeom prst="rect">
            <a:avLst/>
          </a:prstGeom>
          <a:noFill/>
          <a:ln/>
        </p:spPr>
        <p:txBody>
          <a:bodyPr wrap="square" lIns="0" tIns="0" rIns="0" bIns="0" rtlCol="0" anchor="ctr"/>
          <a:lstStyle/>
          <a:p>
            <a:pPr indent="0" marL="0">
              <a:buNone/>
            </a:pPr>
            <a:r>
              <a:rPr lang="en-US" sz="1900" b="1" dirty="0">
                <a:solidFill>
                  <a:srgbClr val="1F2937"/>
                </a:solidFill>
                <a:latin typeface="Calibri" pitchFamily="34" charset="0"/>
                <a:ea typeface="Calibri" pitchFamily="34" charset="-122"/>
                <a:cs typeface="Calibri" pitchFamily="34" charset="-120"/>
              </a:rPr>
              <a:t>Single READ</a:t>
            </a:r>
            <a:endParaRPr lang="en-US" sz="1900" dirty="0"/>
          </a:p>
        </p:txBody>
      </p:sp>
      <p:sp>
        <p:nvSpPr>
          <p:cNvPr id="9" name="Text 7"/>
          <p:cNvSpPr txBox="1"/>
          <p:nvPr/>
        </p:nvSpPr>
        <p:spPr>
          <a:xfrm>
            <a:off x="841248" y="2377440"/>
            <a:ext cx="2971800" cy="6400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Check that the correct file contents are returned.</a:t>
            </a:r>
            <a:endParaRPr lang="en-US" sz="1400" dirty="0"/>
          </a:p>
        </p:txBody>
      </p:sp>
      <p:sp>
        <p:nvSpPr>
          <p:cNvPr id="10" name="Shape 8"/>
          <p:cNvSpPr/>
          <p:nvPr/>
        </p:nvSpPr>
        <p:spPr>
          <a:xfrm>
            <a:off x="4343400" y="1371600"/>
            <a:ext cx="3502152" cy="1783080"/>
          </a:xfrm>
          <a:prstGeom prst="roundRect">
            <a:avLst>
              <a:gd name="adj" fmla="val 6154"/>
            </a:avLst>
          </a:prstGeom>
          <a:solidFill>
            <a:srgbClr val="E9F6F3"/>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4617720" y="1554480"/>
            <a:ext cx="2926080" cy="274320"/>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TEST 2</a:t>
            </a:r>
            <a:endParaRPr lang="en-US" sz="1200" dirty="0"/>
          </a:p>
        </p:txBody>
      </p:sp>
      <p:sp>
        <p:nvSpPr>
          <p:cNvPr id="12" name="Text 10"/>
          <p:cNvSpPr txBox="1"/>
          <p:nvPr/>
        </p:nvSpPr>
        <p:spPr>
          <a:xfrm>
            <a:off x="4617720" y="1874520"/>
            <a:ext cx="2926080" cy="365760"/>
          </a:xfrm>
          <a:prstGeom prst="rect">
            <a:avLst/>
          </a:prstGeom>
          <a:noFill/>
          <a:ln/>
        </p:spPr>
        <p:txBody>
          <a:bodyPr wrap="square" lIns="0" tIns="0" rIns="0" bIns="0" rtlCol="0" anchor="ctr"/>
          <a:lstStyle/>
          <a:p>
            <a:pPr indent="0" marL="0">
              <a:buNone/>
            </a:pPr>
            <a:r>
              <a:rPr lang="en-US" sz="1900" b="1" dirty="0">
                <a:solidFill>
                  <a:srgbClr val="1F2937"/>
                </a:solidFill>
                <a:latin typeface="Calibri" pitchFamily="34" charset="0"/>
                <a:ea typeface="Calibri" pitchFamily="34" charset="-122"/>
                <a:cs typeface="Calibri" pitchFamily="34" charset="-120"/>
              </a:rPr>
              <a:t>Single WRITE</a:t>
            </a:r>
            <a:endParaRPr lang="en-US" sz="1900" dirty="0"/>
          </a:p>
        </p:txBody>
      </p:sp>
      <p:sp>
        <p:nvSpPr>
          <p:cNvPr id="13" name="Text 11"/>
          <p:cNvSpPr txBox="1"/>
          <p:nvPr/>
        </p:nvSpPr>
        <p:spPr>
          <a:xfrm>
            <a:off x="4617720" y="2377440"/>
            <a:ext cx="2971800" cy="6400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Check that data is written successfully.</a:t>
            </a:r>
            <a:endParaRPr lang="en-US" sz="1400" dirty="0"/>
          </a:p>
        </p:txBody>
      </p:sp>
      <p:sp>
        <p:nvSpPr>
          <p:cNvPr id="14" name="Shape 12"/>
          <p:cNvSpPr/>
          <p:nvPr/>
        </p:nvSpPr>
        <p:spPr>
          <a:xfrm>
            <a:off x="8119872" y="1371600"/>
            <a:ext cx="3502152" cy="1783080"/>
          </a:xfrm>
          <a:prstGeom prst="roundRect">
            <a:avLst>
              <a:gd name="adj" fmla="val 6154"/>
            </a:avLst>
          </a:prstGeom>
          <a:solidFill>
            <a:srgbClr val="F1ECF8"/>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8394192" y="1554480"/>
            <a:ext cx="2926080" cy="274320"/>
          </a:xfrm>
          <a:prstGeom prst="rect">
            <a:avLst/>
          </a:prstGeom>
          <a:noFill/>
          <a:ln/>
        </p:spPr>
        <p:txBody>
          <a:bodyPr wrap="square" lIns="0" tIns="0" rIns="0" bIns="0" rtlCol="0" anchor="ctr"/>
          <a:lstStyle/>
          <a:p>
            <a:pPr indent="0" marL="0">
              <a:buNone/>
            </a:pPr>
            <a:r>
              <a:rPr lang="en-US" sz="1200" b="1" dirty="0">
                <a:solidFill>
                  <a:srgbClr val="6B4FA1"/>
                </a:solidFill>
                <a:latin typeface="Calibri" pitchFamily="34" charset="0"/>
                <a:ea typeface="Calibri" pitchFamily="34" charset="-122"/>
                <a:cs typeface="Calibri" pitchFamily="34" charset="-120"/>
              </a:rPr>
              <a:t>TEST 3</a:t>
            </a:r>
            <a:endParaRPr lang="en-US" sz="1200" dirty="0"/>
          </a:p>
        </p:txBody>
      </p:sp>
      <p:sp>
        <p:nvSpPr>
          <p:cNvPr id="16" name="Text 14"/>
          <p:cNvSpPr txBox="1"/>
          <p:nvPr/>
        </p:nvSpPr>
        <p:spPr>
          <a:xfrm>
            <a:off x="8394192" y="1874520"/>
            <a:ext cx="2926080" cy="365760"/>
          </a:xfrm>
          <a:prstGeom prst="rect">
            <a:avLst/>
          </a:prstGeom>
          <a:noFill/>
          <a:ln/>
        </p:spPr>
        <p:txBody>
          <a:bodyPr wrap="square" lIns="0" tIns="0" rIns="0" bIns="0" rtlCol="0" anchor="ctr"/>
          <a:lstStyle/>
          <a:p>
            <a:pPr indent="0" marL="0">
              <a:buNone/>
            </a:pPr>
            <a:r>
              <a:rPr lang="en-US" sz="1900" b="1" dirty="0">
                <a:solidFill>
                  <a:srgbClr val="1F2937"/>
                </a:solidFill>
                <a:latin typeface="Calibri" pitchFamily="34" charset="0"/>
                <a:ea typeface="Calibri" pitchFamily="34" charset="-122"/>
                <a:cs typeface="Calibri" pitchFamily="34" charset="-120"/>
              </a:rPr>
              <a:t>Multiple clients</a:t>
            </a:r>
            <a:endParaRPr lang="en-US" sz="1900" dirty="0"/>
          </a:p>
        </p:txBody>
      </p:sp>
      <p:sp>
        <p:nvSpPr>
          <p:cNvPr id="17" name="Text 15"/>
          <p:cNvSpPr txBox="1"/>
          <p:nvPr/>
        </p:nvSpPr>
        <p:spPr>
          <a:xfrm>
            <a:off x="8394192" y="2377440"/>
            <a:ext cx="2971800" cy="6400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Send several READ / WRITE requests close together.</a:t>
            </a:r>
            <a:endParaRPr lang="en-US" sz="1400" dirty="0"/>
          </a:p>
        </p:txBody>
      </p:sp>
      <p:sp>
        <p:nvSpPr>
          <p:cNvPr id="18" name="Shape 16"/>
          <p:cNvSpPr/>
          <p:nvPr/>
        </p:nvSpPr>
        <p:spPr>
          <a:xfrm>
            <a:off x="566928" y="3429000"/>
            <a:ext cx="5394960" cy="1280160"/>
          </a:xfrm>
          <a:prstGeom prst="roundRect">
            <a:avLst>
              <a:gd name="adj" fmla="val 8571"/>
            </a:avLst>
          </a:prstGeom>
          <a:solidFill>
            <a:srgbClr val="FBF3E7"/>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841248" y="3611880"/>
            <a:ext cx="4846320" cy="274320"/>
          </a:xfrm>
          <a:prstGeom prst="rect">
            <a:avLst/>
          </a:prstGeom>
          <a:noFill/>
          <a:ln/>
        </p:spPr>
        <p:txBody>
          <a:bodyPr wrap="square" lIns="0" tIns="0" rIns="0" bIns="0" rtlCol="0" anchor="ctr"/>
          <a:lstStyle/>
          <a:p>
            <a:pPr indent="0" marL="0">
              <a:buNone/>
            </a:pPr>
            <a:r>
              <a:rPr lang="en-US" sz="1300" b="1" dirty="0">
                <a:solidFill>
                  <a:srgbClr val="C97A22"/>
                </a:solidFill>
                <a:latin typeface="Calibri" pitchFamily="34" charset="0"/>
                <a:ea typeface="Calibri" pitchFamily="34" charset="-122"/>
                <a:cs typeface="Calibri" pitchFamily="34" charset="-120"/>
              </a:rPr>
              <a:t>LATENCY</a:t>
            </a:r>
            <a:endParaRPr lang="en-US" sz="1300" dirty="0"/>
          </a:p>
        </p:txBody>
      </p:sp>
      <p:sp>
        <p:nvSpPr>
          <p:cNvPr id="20" name="Text 18"/>
          <p:cNvSpPr txBox="1"/>
          <p:nvPr/>
        </p:nvSpPr>
        <p:spPr>
          <a:xfrm>
            <a:off x="841248" y="4023360"/>
            <a:ext cx="4846320" cy="457200"/>
          </a:xfrm>
          <a:prstGeom prst="rect">
            <a:avLst/>
          </a:prstGeom>
          <a:noFill/>
          <a:ln/>
        </p:spPr>
        <p:txBody>
          <a:bodyPr wrap="square" lIns="0" tIns="0" rIns="0" bIns="0" rtlCol="0" anchor="ctr"/>
          <a:lstStyle/>
          <a:p>
            <a:pPr indent="0" marL="0">
              <a:buNone/>
            </a:pPr>
            <a:r>
              <a:rPr lang="en-US" sz="2100" b="1" dirty="0">
                <a:solidFill>
                  <a:srgbClr val="1F4E79"/>
                </a:solidFill>
                <a:latin typeface="Calibri" pitchFamily="34" charset="0"/>
                <a:ea typeface="Calibri" pitchFamily="34" charset="-122"/>
                <a:cs typeface="Calibri" pitchFamily="34" charset="-120"/>
              </a:rPr>
              <a:t>Completion time − Request time</a:t>
            </a:r>
            <a:endParaRPr lang="en-US" sz="2100" dirty="0"/>
          </a:p>
        </p:txBody>
      </p:sp>
      <p:sp>
        <p:nvSpPr>
          <p:cNvPr id="21" name="Shape 19"/>
          <p:cNvSpPr/>
          <p:nvPr/>
        </p:nvSpPr>
        <p:spPr>
          <a:xfrm>
            <a:off x="6227064" y="3429000"/>
            <a:ext cx="5394960" cy="1280160"/>
          </a:xfrm>
          <a:prstGeom prst="roundRect">
            <a:avLst>
              <a:gd name="adj" fmla="val 8571"/>
            </a:avLst>
          </a:prstGeom>
          <a:solidFill>
            <a:srgbClr val="E9F6F3"/>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22" name="Text 20"/>
          <p:cNvSpPr txBox="1"/>
          <p:nvPr/>
        </p:nvSpPr>
        <p:spPr>
          <a:xfrm>
            <a:off x="6501384" y="3611880"/>
            <a:ext cx="4846320" cy="274320"/>
          </a:xfrm>
          <a:prstGeom prst="rect">
            <a:avLst/>
          </a:prstGeom>
          <a:noFill/>
          <a:ln/>
        </p:spPr>
        <p:txBody>
          <a:bodyPr wrap="square" lIns="0" tIns="0" rIns="0" bIns="0" rtlCol="0" anchor="ctr"/>
          <a:lstStyle/>
          <a:p>
            <a:pPr indent="0" marL="0">
              <a:buNone/>
            </a:pPr>
            <a:r>
              <a:rPr lang="en-US" sz="1300" b="1" dirty="0">
                <a:solidFill>
                  <a:srgbClr val="2E8B57"/>
                </a:solidFill>
                <a:latin typeface="Calibri" pitchFamily="34" charset="0"/>
                <a:ea typeface="Calibri" pitchFamily="34" charset="-122"/>
                <a:cs typeface="Calibri" pitchFamily="34" charset="-120"/>
              </a:rPr>
              <a:t>THROUGHPUT</a:t>
            </a:r>
            <a:endParaRPr lang="en-US" sz="1300" dirty="0"/>
          </a:p>
        </p:txBody>
      </p:sp>
      <p:sp>
        <p:nvSpPr>
          <p:cNvPr id="23" name="Text 21"/>
          <p:cNvSpPr txBox="1"/>
          <p:nvPr/>
        </p:nvSpPr>
        <p:spPr>
          <a:xfrm>
            <a:off x="6501384" y="4023360"/>
            <a:ext cx="4846320" cy="457200"/>
          </a:xfrm>
          <a:prstGeom prst="rect">
            <a:avLst/>
          </a:prstGeom>
          <a:noFill/>
          <a:ln/>
        </p:spPr>
        <p:txBody>
          <a:bodyPr wrap="square" lIns="0" tIns="0" rIns="0" bIns="0" rtlCol="0" anchor="ctr"/>
          <a:lstStyle/>
          <a:p>
            <a:pPr indent="0" marL="0">
              <a:buNone/>
            </a:pPr>
            <a:r>
              <a:rPr lang="en-US" sz="2100" b="1" dirty="0">
                <a:solidFill>
                  <a:srgbClr val="1F4E79"/>
                </a:solidFill>
                <a:latin typeface="Calibri" pitchFamily="34" charset="0"/>
                <a:ea typeface="Calibri" pitchFamily="34" charset="-122"/>
                <a:cs typeface="Calibri" pitchFamily="34" charset="-120"/>
              </a:rPr>
              <a:t>Completed requests ÷ time</a:t>
            </a:r>
            <a:endParaRPr lang="en-US" sz="2100" dirty="0"/>
          </a:p>
        </p:txBody>
      </p:sp>
      <p:sp>
        <p:nvSpPr>
          <p:cNvPr id="24" name="Shape 22"/>
          <p:cNvSpPr/>
          <p:nvPr/>
        </p:nvSpPr>
        <p:spPr>
          <a:xfrm>
            <a:off x="566928" y="4983480"/>
            <a:ext cx="11055096" cy="1005840"/>
          </a:xfrm>
          <a:prstGeom prst="roundRect">
            <a:avLst>
              <a:gd name="adj" fmla="val 10909"/>
            </a:avLst>
          </a:prstGeom>
          <a:solidFill>
            <a:srgbClr val="FFFFFF"/>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25" name="Text 23"/>
          <p:cNvSpPr txBox="1"/>
          <p:nvPr/>
        </p:nvSpPr>
        <p:spPr>
          <a:xfrm>
            <a:off x="841248" y="5120640"/>
            <a:ext cx="2743200" cy="274320"/>
          </a:xfrm>
          <a:prstGeom prst="rect">
            <a:avLst/>
          </a:prstGeom>
          <a:noFill/>
          <a:ln/>
        </p:spPr>
        <p:txBody>
          <a:bodyPr wrap="square" lIns="0" tIns="0" rIns="0" bIns="0"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RESULT</a:t>
            </a:r>
            <a:endParaRPr lang="en-US" sz="1300" dirty="0"/>
          </a:p>
        </p:txBody>
      </p:sp>
      <p:sp>
        <p:nvSpPr>
          <p:cNvPr id="26" name="Text 24"/>
          <p:cNvSpPr txBox="1"/>
          <p:nvPr/>
        </p:nvSpPr>
        <p:spPr>
          <a:xfrm>
            <a:off x="841248" y="5440680"/>
            <a:ext cx="10515600" cy="36576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Record request/completion times and compare behavior under different loads.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594360"/>
          </a:xfrm>
          <a:prstGeom prst="rect">
            <a:avLst/>
          </a:prstGeom>
          <a:noFill/>
          <a:ln/>
        </p:spPr>
        <p:txBody>
          <a:bodyPr wrap="square" lIns="0" tIns="0" rIns="0" bIns="0" rtlCol="0" anchor="ctr"/>
          <a:lstStyle/>
          <a:p>
            <a:pPr algn="ctr" indent="0" marL="0">
              <a:buNone/>
            </a:pPr>
            <a:r>
              <a:rPr lang="en-US" sz="3200" b="1" dirty="0">
                <a:solidFill>
                  <a:srgbClr val="1F2937"/>
                </a:solidFill>
                <a:latin typeface="Calibri" pitchFamily="34" charset="0"/>
                <a:ea typeface="Calibri" pitchFamily="34" charset="-122"/>
                <a:cs typeface="Calibri" pitchFamily="34" charset="-120"/>
              </a:rPr>
              <a:t>Expected Outcome &amp; Conclusion</a:t>
            </a:r>
            <a:endParaRPr lang="en-US" sz="3200" dirty="0"/>
          </a:p>
        </p:txBody>
      </p:sp>
      <p:sp>
        <p:nvSpPr>
          <p:cNvPr id="3" name="Text 1"/>
          <p:cNvSpPr txBox="1"/>
          <p:nvPr/>
        </p:nvSpPr>
        <p:spPr>
          <a:xfrm>
            <a:off x="548640" y="868680"/>
            <a:ext cx="11091672" cy="320040"/>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What the finished project should demonstrate</a:t>
            </a:r>
            <a:endParaRPr lang="en-US" sz="1400" dirty="0"/>
          </a:p>
        </p:txBody>
      </p:sp>
      <p:sp>
        <p:nvSpPr>
          <p:cNvPr id="4" name="Text 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OSSP • Team 20</a:t>
            </a:r>
            <a:endParaRPr lang="en-US" sz="1000" dirty="0"/>
          </a:p>
        </p:txBody>
      </p:sp>
      <p:sp>
        <p:nvSpPr>
          <p:cNvPr id="5" name="Text 3"/>
          <p:cNvSpPr txBox="1"/>
          <p:nvPr/>
        </p:nvSpPr>
        <p:spPr>
          <a:xfrm>
            <a:off x="11091672" y="640080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
        <p:nvSpPr>
          <p:cNvPr id="6" name="Shape 4"/>
          <p:cNvSpPr/>
          <p:nvPr/>
        </p:nvSpPr>
        <p:spPr>
          <a:xfrm>
            <a:off x="566928" y="1371600"/>
            <a:ext cx="5394960" cy="4480560"/>
          </a:xfrm>
          <a:prstGeom prst="roundRect">
            <a:avLst>
              <a:gd name="adj" fmla="val 2449"/>
            </a:avLst>
          </a:prstGeom>
          <a:solidFill>
            <a:srgbClr val="E9F6F3"/>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841248" y="1572768"/>
            <a:ext cx="4846320" cy="365760"/>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EXPECTED OUTCOME</a:t>
            </a:r>
            <a:endParaRPr lang="en-US" sz="1800" dirty="0"/>
          </a:p>
        </p:txBody>
      </p:sp>
      <p:sp>
        <p:nvSpPr>
          <p:cNvPr id="8" name="Text 6"/>
          <p:cNvSpPr txBox="1"/>
          <p:nvPr/>
        </p:nvSpPr>
        <p:spPr>
          <a:xfrm>
            <a:off x="841248" y="2194560"/>
            <a:ext cx="4846320" cy="347472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1F2937"/>
                </a:solidFill>
                <a:latin typeface="Calibri" pitchFamily="34" charset="0"/>
                <a:ea typeface="Calibri" pitchFamily="34" charset="-122"/>
                <a:cs typeface="Calibri" pitchFamily="34" charset="-120"/>
              </a:rPr>
              <a:t>Multiple client connections</a:t>
            </a:r>
            <a:endParaRPr lang="en-US" sz="1600" dirty="0"/>
          </a:p>
          <a:p>
            <a:pPr marL="228600" indent="-228600">
              <a:spcAft>
                <a:spcPts val="1200"/>
              </a:spcAft>
              <a:buSzPct val="100000"/>
              <a:buChar char="•"/>
            </a:pPr>
            <a:r>
              <a:rPr lang="en-US" sz="1600" dirty="0">
                <a:solidFill>
                  <a:srgbClr val="1F2937"/>
                </a:solidFill>
                <a:latin typeface="Calibri" pitchFamily="34" charset="0"/>
                <a:ea typeface="Calibri" pitchFamily="34" charset="-122"/>
                <a:cs typeface="Calibri" pitchFamily="34" charset="-120"/>
              </a:rPr>
              <a:t>Asynchronous file READ / WRITE operations</a:t>
            </a:r>
            <a:endParaRPr lang="en-US" sz="1600" dirty="0"/>
          </a:p>
          <a:p>
            <a:pPr marL="228600" indent="-228600">
              <a:spcAft>
                <a:spcPts val="1200"/>
              </a:spcAft>
              <a:buSzPct val="100000"/>
              <a:buChar char="•"/>
            </a:pPr>
            <a:r>
              <a:rPr lang="en-US" sz="1600" dirty="0">
                <a:solidFill>
                  <a:srgbClr val="1F2937"/>
                </a:solidFill>
                <a:latin typeface="Calibri" pitchFamily="34" charset="0"/>
                <a:ea typeface="Calibri" pitchFamily="34" charset="-122"/>
                <a:cs typeface="Calibri" pitchFamily="34" charset="-120"/>
              </a:rPr>
              <a:t>Pending request queue</a:t>
            </a:r>
            <a:endParaRPr lang="en-US" sz="1600" dirty="0"/>
          </a:p>
          <a:p>
            <a:pPr marL="228600" indent="-228600">
              <a:spcAft>
                <a:spcPts val="1200"/>
              </a:spcAft>
              <a:buSzPct val="100000"/>
              <a:buChar char="•"/>
            </a:pPr>
            <a:r>
              <a:rPr lang="en-US" sz="1600" dirty="0">
                <a:solidFill>
                  <a:srgbClr val="1F2937"/>
                </a:solidFill>
                <a:latin typeface="Calibri" pitchFamily="34" charset="0"/>
                <a:ea typeface="Calibri" pitchFamily="34" charset="-122"/>
                <a:cs typeface="Calibri" pitchFamily="34" charset="-120"/>
              </a:rPr>
              <a:t>Request + completion queues</a:t>
            </a:r>
            <a:endParaRPr lang="en-US" sz="1600" dirty="0"/>
          </a:p>
          <a:p>
            <a:pPr marL="228600" indent="-228600">
              <a:spcAft>
                <a:spcPts val="1200"/>
              </a:spcAft>
              <a:buSzPct val="100000"/>
              <a:buChar char="•"/>
            </a:pPr>
            <a:r>
              <a:rPr lang="en-US" sz="1600" dirty="0">
                <a:solidFill>
                  <a:srgbClr val="1F2937"/>
                </a:solidFill>
                <a:latin typeface="Calibri" pitchFamily="34" charset="0"/>
                <a:ea typeface="Calibri" pitchFamily="34" charset="-122"/>
                <a:cs typeface="Calibri" pitchFamily="34" charset="-120"/>
              </a:rPr>
              <a:t>Synchronized shared request data</a:t>
            </a:r>
            <a:endParaRPr lang="en-US" sz="1600" dirty="0"/>
          </a:p>
          <a:p>
            <a:pPr marL="228600" indent="-228600">
              <a:spcAft>
                <a:spcPts val="1200"/>
              </a:spcAft>
              <a:buSzPct val="100000"/>
              <a:buChar char="•"/>
            </a:pPr>
            <a:r>
              <a:rPr lang="en-US" sz="1600" dirty="0">
                <a:solidFill>
                  <a:srgbClr val="1F2937"/>
                </a:solidFill>
                <a:latin typeface="Calibri" pitchFamily="34" charset="0"/>
                <a:ea typeface="Calibri" pitchFamily="34" charset="-122"/>
                <a:cs typeface="Calibri" pitchFamily="34" charset="-120"/>
              </a:rPr>
              <a:t>Latency + throughput measurement</a:t>
            </a:r>
            <a:endParaRPr lang="en-US" sz="1600" dirty="0"/>
          </a:p>
        </p:txBody>
      </p:sp>
      <p:sp>
        <p:nvSpPr>
          <p:cNvPr id="9" name="Shape 7"/>
          <p:cNvSpPr/>
          <p:nvPr/>
        </p:nvSpPr>
        <p:spPr>
          <a:xfrm>
            <a:off x="6236208" y="1371600"/>
            <a:ext cx="5394960" cy="4480560"/>
          </a:xfrm>
          <a:prstGeom prst="roundRect">
            <a:avLst>
              <a:gd name="adj" fmla="val 2449"/>
            </a:avLst>
          </a:prstGeom>
          <a:solidFill>
            <a:srgbClr val="EAF2F8"/>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6510528" y="1572768"/>
            <a:ext cx="4846320" cy="365760"/>
          </a:xfrm>
          <a:prstGeom prst="rect">
            <a:avLst/>
          </a:prstGeom>
          <a:noFill/>
          <a:ln/>
        </p:spPr>
        <p:txBody>
          <a:bodyPr wrap="square" lIns="0" tIns="0" rIns="0" bIns="0" rtlCol="0" anchor="ctr"/>
          <a:lstStyle/>
          <a:p>
            <a:pPr indent="0" marL="0">
              <a:buNone/>
            </a:pPr>
            <a:r>
              <a:rPr lang="en-US" sz="1800" b="1" dirty="0">
                <a:solidFill>
                  <a:srgbClr val="2F75B5"/>
                </a:solidFill>
                <a:latin typeface="Calibri" pitchFamily="34" charset="0"/>
                <a:ea typeface="Calibri" pitchFamily="34" charset="-122"/>
                <a:cs typeface="Calibri" pitchFamily="34" charset="-120"/>
              </a:rPr>
              <a:t>CONCLUSION</a:t>
            </a:r>
            <a:endParaRPr lang="en-US" sz="1800" dirty="0"/>
          </a:p>
        </p:txBody>
      </p:sp>
      <p:sp>
        <p:nvSpPr>
          <p:cNvPr id="11" name="Text 9"/>
          <p:cNvSpPr txBox="1"/>
          <p:nvPr/>
        </p:nvSpPr>
        <p:spPr>
          <a:xfrm>
            <a:off x="6510528" y="2194560"/>
            <a:ext cx="4846320" cy="3474720"/>
          </a:xfrm>
          <a:prstGeom prst="rect">
            <a:avLst/>
          </a:prstGeom>
          <a:noFill/>
          <a:ln/>
        </p:spPr>
        <p:txBody>
          <a:bodyPr wrap="square" lIns="0" tIns="0" rIns="0" bIns="0" rtlCol="0" anchor="t"/>
          <a:lstStyle/>
          <a:p>
            <a:pPr marL="228600" indent="-228600">
              <a:spcAft>
                <a:spcPts val="1400"/>
              </a:spcAft>
              <a:buSzPct val="100000"/>
              <a:buChar char="•"/>
            </a:pPr>
            <a:r>
              <a:rPr lang="en-US" sz="1600" dirty="0">
                <a:solidFill>
                  <a:srgbClr val="1F2937"/>
                </a:solidFill>
                <a:latin typeface="Calibri" pitchFamily="34" charset="0"/>
                <a:ea typeface="Calibri" pitchFamily="34" charset="-122"/>
                <a:cs typeface="Calibri" pitchFamily="34" charset="-120"/>
              </a:rPr>
              <a:t>A functional C-based server that accepts requests, queues them and processes them asynchronously</a:t>
            </a:r>
            <a:endParaRPr lang="en-US" sz="1600" dirty="0"/>
          </a:p>
          <a:p>
            <a:pPr marL="228600" indent="-228600">
              <a:spcAft>
                <a:spcPts val="1400"/>
              </a:spcAft>
              <a:buSzPct val="100000"/>
              <a:buChar char="•"/>
            </a:pPr>
            <a:r>
              <a:rPr lang="en-US" sz="1600" dirty="0">
                <a:solidFill>
                  <a:srgbClr val="1F2937"/>
                </a:solidFill>
                <a:latin typeface="Calibri" pitchFamily="34" charset="0"/>
                <a:ea typeface="Calibri" pitchFamily="34" charset="-122"/>
                <a:cs typeface="Calibri" pitchFamily="34" charset="-120"/>
              </a:rPr>
              <a:t>Completed results are returned to the correct clients</a:t>
            </a:r>
            <a:endParaRPr lang="en-US" sz="1600" dirty="0"/>
          </a:p>
          <a:p>
            <a:pPr marL="228600" indent="-228600">
              <a:spcAft>
                <a:spcPts val="1400"/>
              </a:spcAft>
              <a:buSzPct val="100000"/>
              <a:buChar char="•"/>
            </a:pPr>
            <a:r>
              <a:rPr lang="en-US" sz="1600" dirty="0">
                <a:solidFill>
                  <a:srgbClr val="1F2937"/>
                </a:solidFill>
                <a:latin typeface="Calibri" pitchFamily="34" charset="0"/>
                <a:ea typeface="Calibri" pitchFamily="34" charset="-122"/>
                <a:cs typeface="Calibri" pitchFamily="34" charset="-120"/>
              </a:rPr>
              <a:t>Demonstrates practical Operating Systems and Systems Programming concepts through Linux/POSIX-style mechanisms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48640" y="1005840"/>
            <a:ext cx="11091672" cy="4846320"/>
          </a:xfrm>
          <a:prstGeom prst="roundRect">
            <a:avLst>
              <a:gd name="adj" fmla="val 7547"/>
            </a:avLst>
          </a:prstGeom>
          <a:solidFill>
            <a:srgbClr val="FFFFFF"/>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3" name="Text 1"/>
          <p:cNvSpPr txBox="1"/>
          <p:nvPr/>
        </p:nvSpPr>
        <p:spPr>
          <a:xfrm>
            <a:off x="1097280" y="1737360"/>
            <a:ext cx="9994392" cy="1097280"/>
          </a:xfrm>
          <a:prstGeom prst="rect">
            <a:avLst/>
          </a:prstGeom>
          <a:noFill/>
          <a:ln/>
        </p:spPr>
        <p:txBody>
          <a:bodyPr wrap="square" lIns="0" tIns="0" rIns="0" bIns="0" rtlCol="0" anchor="ctr"/>
          <a:lstStyle/>
          <a:p>
            <a:pPr algn="ctr" indent="0" marL="0">
              <a:buNone/>
            </a:pPr>
            <a:r>
              <a:rPr lang="en-US" sz="5600" b="1" dirty="0">
                <a:solidFill>
                  <a:srgbClr val="1F4E79"/>
                </a:solidFill>
                <a:latin typeface="Calibri" pitchFamily="34" charset="0"/>
                <a:ea typeface="Calibri" pitchFamily="34" charset="-122"/>
                <a:cs typeface="Calibri" pitchFamily="34" charset="-120"/>
              </a:rPr>
              <a:t>Thank You</a:t>
            </a:r>
            <a:endParaRPr lang="en-US" sz="5600" dirty="0"/>
          </a:p>
        </p:txBody>
      </p:sp>
      <p:sp>
        <p:nvSpPr>
          <p:cNvPr id="4" name="Text 2"/>
          <p:cNvSpPr txBox="1"/>
          <p:nvPr/>
        </p:nvSpPr>
        <p:spPr>
          <a:xfrm>
            <a:off x="1097280" y="2880360"/>
            <a:ext cx="9994392" cy="457200"/>
          </a:xfrm>
          <a:prstGeom prst="rect">
            <a:avLst/>
          </a:prstGeom>
          <a:noFill/>
          <a:ln/>
        </p:spPr>
        <p:txBody>
          <a:bodyPr wrap="square" lIns="0" tIns="0" rIns="0" bIns="0" rtlCol="0" anchor="ctr"/>
          <a:lstStyle/>
          <a:p>
            <a:pPr algn="ctr" indent="0" marL="0">
              <a:buNone/>
            </a:pPr>
            <a:r>
              <a:rPr lang="en-US" sz="2200" dirty="0">
                <a:solidFill>
                  <a:srgbClr val="6B7280"/>
                </a:solidFill>
                <a:latin typeface="Calibri" pitchFamily="34" charset="0"/>
                <a:ea typeface="Calibri" pitchFamily="34" charset="-122"/>
                <a:cs typeface="Calibri" pitchFamily="34" charset="-120"/>
              </a:rPr>
              <a:t>Asynchronous File Processing Server</a:t>
            </a:r>
            <a:endParaRPr lang="en-US" sz="2200" dirty="0"/>
          </a:p>
        </p:txBody>
      </p:sp>
      <p:sp>
        <p:nvSpPr>
          <p:cNvPr id="5" name="Shape 3"/>
          <p:cNvSpPr/>
          <p:nvPr/>
        </p:nvSpPr>
        <p:spPr>
          <a:xfrm>
            <a:off x="4453128" y="3657600"/>
            <a:ext cx="3291840" cy="594360"/>
          </a:xfrm>
          <a:prstGeom prst="roundRect">
            <a:avLst>
              <a:gd name="adj" fmla="val 18462"/>
            </a:avLst>
          </a:prstGeom>
          <a:solidFill>
            <a:srgbClr val="E9F6F3"/>
          </a:solidFill>
          <a:ln w="9525">
            <a:solidFill>
              <a:srgbClr val="D7DEE7"/>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4453128" y="3657600"/>
            <a:ext cx="3291840" cy="594360"/>
          </a:xfrm>
          <a:prstGeom prst="rect">
            <a:avLst/>
          </a:prstGeom>
          <a:noFill/>
          <a:ln/>
        </p:spPr>
        <p:txBody>
          <a:bodyPr wrap="square" lIns="0" tIns="0" rIns="0" bIns="0" rtlCol="0" anchor="ctr"/>
          <a:lstStyle/>
          <a:p>
            <a:pPr algn="ctr" indent="0" marL="0">
              <a:buNone/>
            </a:pPr>
            <a:r>
              <a:rPr lang="en-US" sz="1700" b="1" dirty="0">
                <a:solidFill>
                  <a:srgbClr val="0F766E"/>
                </a:solidFill>
                <a:latin typeface="Calibri" pitchFamily="34" charset="0"/>
                <a:ea typeface="Calibri" pitchFamily="34" charset="-122"/>
                <a:cs typeface="Calibri" pitchFamily="34" charset="-120"/>
              </a:rPr>
              <a:t>Questions &amp; Discussion</a:t>
            </a:r>
            <a:endParaRPr lang="en-US" sz="1700" dirty="0"/>
          </a:p>
        </p:txBody>
      </p:sp>
      <p:sp>
        <p:nvSpPr>
          <p:cNvPr id="7" name="Text 5"/>
          <p:cNvSpPr txBox="1"/>
          <p:nvPr/>
        </p:nvSpPr>
        <p:spPr>
          <a:xfrm>
            <a:off x="1097280" y="4663440"/>
            <a:ext cx="9994392" cy="365760"/>
          </a:xfrm>
          <a:prstGeom prst="rect">
            <a:avLst/>
          </a:prstGeom>
          <a:noFill/>
          <a:ln/>
        </p:spPr>
        <p:txBody>
          <a:bodyPr wrap="square" lIns="0" tIns="0" rIns="0" bIns="0" rtlCol="0" anchor="ctr"/>
          <a:lstStyle/>
          <a:p>
            <a:pPr algn="ctr" indent="0" marL="0">
              <a:buNone/>
            </a:pPr>
            <a:r>
              <a:rPr lang="en-US" sz="1600" b="1" dirty="0">
                <a:solidFill>
                  <a:srgbClr val="1F4E79"/>
                </a:solidFill>
                <a:latin typeface="Calibri" pitchFamily="34" charset="0"/>
                <a:ea typeface="Calibri" pitchFamily="34" charset="-122"/>
                <a:cs typeface="Calibri" pitchFamily="34" charset="-120"/>
              </a:rPr>
              <a:t>Team 20  •  B. Surya Prakash Reddy  •  Vedhanth Sinde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2026-09-25T04:39:54Z</dcterms:created>
  <dcterms:modified xsi:type="dcterms:W3CDTF">2026-09-25T04:39:54Z</dcterms:modified>
</cp:coreProperties>
</file>